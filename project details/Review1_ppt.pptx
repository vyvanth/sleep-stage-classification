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6"/>
  </p:notesMasterIdLst>
  <p:sldIdLst>
    <p:sldId id="256" r:id="rId2"/>
    <p:sldId id="297" r:id="rId3"/>
    <p:sldId id="257" r:id="rId4"/>
    <p:sldId id="259" r:id="rId5"/>
    <p:sldId id="298" r:id="rId6"/>
    <p:sldId id="270" r:id="rId7"/>
    <p:sldId id="295" r:id="rId8"/>
    <p:sldId id="296" r:id="rId9"/>
    <p:sldId id="287" r:id="rId10"/>
    <p:sldId id="289" r:id="rId11"/>
    <p:sldId id="294" r:id="rId12"/>
    <p:sldId id="284" r:id="rId13"/>
    <p:sldId id="264" r:id="rId14"/>
    <p:sldId id="293" r:id="rId15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98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7F3F4"/>
          </a:solidFill>
        </a:fill>
      </a:tcStyle>
    </a:wholeTbl>
    <a:band2H>
      <a:tcTxStyle/>
      <a:tcStyle>
        <a:tcBdr/>
        <a:fill>
          <a:solidFill>
            <a:srgbClr val="F3F9FA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830" autoAdjust="0"/>
    <p:restoredTop sz="94660"/>
  </p:normalViewPr>
  <p:slideViewPr>
    <p:cSldViewPr snapToGrid="0">
      <p:cViewPr varScale="1">
        <p:scale>
          <a:sx n="98" d="100"/>
          <a:sy n="98" d="100"/>
        </p:scale>
        <p:origin x="1286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AF2611-4B58-ED43-AC9F-B952F610F406}" type="doc">
      <dgm:prSet loTypeId="urn:microsoft.com/office/officeart/2005/8/layout/StepDownProcess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F9E631-8BA3-154F-A6E6-07CA57FBC2DB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Literature Survey</a:t>
          </a:r>
        </a:p>
      </dgm:t>
    </dgm:pt>
    <dgm:pt modelId="{4BAA8D80-E90A-6945-90C2-16CAFC77FA6F}" type="parTrans" cxnId="{5D2F70F4-D4C2-FD4A-B54D-45A310324ADC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40437896-D1C0-9744-812A-639F6C127825}" type="sibTrans" cxnId="{5D2F70F4-D4C2-FD4A-B54D-45A310324ADC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63672145-F932-0941-9207-6FD21631945F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Design [Front End, Back End]</a:t>
          </a:r>
        </a:p>
      </dgm:t>
    </dgm:pt>
    <dgm:pt modelId="{DA9256D3-306A-2647-A641-4B0B371AA471}" type="parTrans" cxnId="{112C4A37-BD1F-0D4F-8BDF-AF61C42AA62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EE4E87B9-A6F7-D040-A8C9-2B94C61F8F15}" type="sibTrans" cxnId="{112C4A37-BD1F-0D4F-8BDF-AF61C42AA62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180ED30E-9BB7-2945-8E67-38EC3B69034A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Implementation</a:t>
          </a:r>
        </a:p>
      </dgm:t>
    </dgm:pt>
    <dgm:pt modelId="{CCFA8DD9-517C-4C48-9ACE-EAEC7B4B1D8D}" type="parTrans" cxnId="{15010B8E-8FC6-034B-A7AD-F331240F7012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9581D7FD-E2E0-0241-80C7-1BF3EEF3518C}" type="sibTrans" cxnId="{15010B8E-8FC6-034B-A7AD-F331240F7012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44352C0E-9228-1D41-9AC7-630454862AAB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Testing</a:t>
          </a:r>
        </a:p>
      </dgm:t>
    </dgm:pt>
    <dgm:pt modelId="{BB03014B-614B-4E4D-B179-22BF96D1FDA5}" type="parTrans" cxnId="{016D9485-956C-624D-A592-DDA4E4AA6CC5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D2AC5C65-A520-AE49-8D76-EE23E4A07C4A}" type="sibTrans" cxnId="{016D9485-956C-624D-A592-DDA4E4AA6CC5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251E4A29-F563-D34A-A9F7-27833A2BC30D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Document Submission</a:t>
          </a:r>
        </a:p>
      </dgm:t>
    </dgm:pt>
    <dgm:pt modelId="{B9E7D4BF-66C0-D046-BA68-7E24F4AB0843}" type="parTrans" cxnId="{E336EE89-5EC2-AE4C-81C9-2EBDE6E482D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57ED735E-B5D2-C749-867E-EB96611C0B8B}" type="sibTrans" cxnId="{E336EE89-5EC2-AE4C-81C9-2EBDE6E482D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6469F03D-EC0D-E14C-9147-635163E16719}">
      <dgm:prSet phldrT="[Text]" custT="1"/>
      <dgm:spPr/>
      <dgm:t>
        <a:bodyPr/>
        <a:lstStyle/>
        <a:p>
          <a:r>
            <a:rPr lang="en-US" sz="1100" dirty="0" smtClean="0">
              <a:solidFill>
                <a:schemeClr val="tx1"/>
              </a:solidFill>
            </a:rPr>
            <a:t>&lt;September/October 2026&gt;</a:t>
          </a:r>
          <a:endParaRPr lang="en-US" sz="1100" dirty="0">
            <a:solidFill>
              <a:schemeClr val="tx1"/>
            </a:solidFill>
          </a:endParaRPr>
        </a:p>
      </dgm:t>
    </dgm:pt>
    <dgm:pt modelId="{31D6F60D-A7D1-C54D-964D-3B8790B82FA4}" type="parTrans" cxnId="{69DAFA03-0878-9247-9AF4-F13FE4FF5D9B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DCECCFCD-FFA0-2B4E-8620-4D260FCCA4E0}" type="sibTrans" cxnId="{69DAFA03-0878-9247-9AF4-F13FE4FF5D9B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712C06CF-58B4-8F4A-A1C3-18737522BAA5}">
      <dgm:prSet phldrT="[Text]" custT="1"/>
      <dgm:spPr/>
      <dgm:t>
        <a:bodyPr/>
        <a:lstStyle/>
        <a:p>
          <a:r>
            <a:rPr lang="en-US" sz="1100" dirty="0" smtClean="0">
              <a:solidFill>
                <a:schemeClr val="tx1"/>
              </a:solidFill>
            </a:rPr>
            <a:t>&lt;January 2027&gt;</a:t>
          </a:r>
          <a:endParaRPr lang="en-US" sz="1100" dirty="0">
            <a:solidFill>
              <a:schemeClr val="tx1"/>
            </a:solidFill>
          </a:endParaRPr>
        </a:p>
      </dgm:t>
    </dgm:pt>
    <dgm:pt modelId="{00A2F76A-F4C8-F042-BC58-5B28B1FEF030}" type="parTrans" cxnId="{552A83B2-FDAE-E143-BB66-928925B322B7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F7A6ECC7-ED92-634B-B481-4D7D62B796B5}" type="sibTrans" cxnId="{552A83B2-FDAE-E143-BB66-928925B322B7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B761BE11-3B98-534C-8389-3D511BB432FF}">
      <dgm:prSet phldrT="[Text]" custT="1"/>
      <dgm:spPr/>
      <dgm:t>
        <a:bodyPr/>
        <a:lstStyle/>
        <a:p>
          <a:r>
            <a:rPr lang="en-US" sz="1000" dirty="0" smtClean="0">
              <a:solidFill>
                <a:schemeClr val="tx1"/>
              </a:solidFill>
            </a:rPr>
            <a:t>&lt;March 2027&gt;</a:t>
          </a:r>
          <a:endParaRPr lang="en-US" sz="1000" dirty="0">
            <a:solidFill>
              <a:schemeClr val="tx1"/>
            </a:solidFill>
          </a:endParaRPr>
        </a:p>
      </dgm:t>
    </dgm:pt>
    <dgm:pt modelId="{53F8C2F9-90C5-F04A-B13E-59A7DBEEB722}" type="parTrans" cxnId="{7F3F2935-1376-434A-B6E9-CEA12E0D559A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1CFC13B1-0710-8745-A251-B44B9B630299}" type="sibTrans" cxnId="{7F3F2935-1376-434A-B6E9-CEA12E0D559A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05C01FBF-0839-B840-AA40-B5D4B5EF9464}">
      <dgm:prSet phldrT="[Text]" custT="1"/>
      <dgm:spPr/>
      <dgm:t>
        <a:bodyPr/>
        <a:lstStyle/>
        <a:p>
          <a:r>
            <a:rPr lang="en-US" sz="1000" dirty="0" smtClean="0">
              <a:solidFill>
                <a:schemeClr val="tx1"/>
              </a:solidFill>
            </a:rPr>
            <a:t>&lt;April 2027&gt;</a:t>
          </a:r>
          <a:endParaRPr lang="en-US" sz="1000" dirty="0">
            <a:solidFill>
              <a:schemeClr val="tx1"/>
            </a:solidFill>
          </a:endParaRPr>
        </a:p>
      </dgm:t>
    </dgm:pt>
    <dgm:pt modelId="{4292C26E-910E-F242-B4EA-85C15677A931}" type="parTrans" cxnId="{570398A5-7B9B-684E-836B-828C67CE95B5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9CE79F6D-8C8B-134E-870B-A3814A161031}" type="sibTrans" cxnId="{570398A5-7B9B-684E-836B-828C67CE95B5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26B4761A-8722-154A-9A4E-6B2E8309550C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Abstract Submission</a:t>
          </a:r>
        </a:p>
      </dgm:t>
    </dgm:pt>
    <dgm:pt modelId="{19278814-36C8-0643-9FFA-66C8A44E8EEC}" type="parTrans" cxnId="{3CBBF823-4682-A649-AD39-366A0823CC07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B2DCC36A-7A1A-4C4F-90DA-FAE4C97E6C7D}" type="sibTrans" cxnId="{3CBBF823-4682-A649-AD39-366A0823CC07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CB6CE777-E645-594F-9F72-31FA50915471}">
      <dgm:prSet phldrT="[Text]" custT="1"/>
      <dgm:spPr/>
      <dgm:t>
        <a:bodyPr/>
        <a:lstStyle/>
        <a:p>
          <a:r>
            <a:rPr lang="en-US" sz="1000" dirty="0" smtClean="0">
              <a:solidFill>
                <a:schemeClr val="tx1"/>
              </a:solidFill>
            </a:rPr>
            <a:t>&lt;August 2026&gt;</a:t>
          </a:r>
          <a:endParaRPr lang="en-US" sz="1000" dirty="0">
            <a:solidFill>
              <a:schemeClr val="tx1"/>
            </a:solidFill>
          </a:endParaRPr>
        </a:p>
      </dgm:t>
    </dgm:pt>
    <dgm:pt modelId="{A3FA10DA-B8BC-6B42-A66B-27F9CED77F23}" type="parTrans" cxnId="{84262DD1-54DB-8D42-9C16-B543B3BB337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F64EEB12-0851-6B4F-BF84-33083DA26F4B}" type="sibTrans" cxnId="{84262DD1-54DB-8D42-9C16-B543B3BB337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CA627FEB-5C4C-4C51-8A75-FEFCA4466D7B}">
      <dgm:prSet phldrT="[Text]" custT="1"/>
      <dgm:spPr/>
      <dgm:t>
        <a:bodyPr/>
        <a:lstStyle/>
        <a:p>
          <a:r>
            <a:rPr lang="en-US" sz="1050" dirty="0" smtClean="0">
              <a:solidFill>
                <a:schemeClr val="tx1"/>
              </a:solidFill>
            </a:rPr>
            <a:t>&lt;August 2026&gt;</a:t>
          </a:r>
          <a:endParaRPr lang="en-US" sz="1050" dirty="0">
            <a:solidFill>
              <a:schemeClr val="tx1"/>
            </a:solidFill>
          </a:endParaRPr>
        </a:p>
      </dgm:t>
    </dgm:pt>
    <dgm:pt modelId="{312DFEE4-A0BE-4287-98A9-69EE828C53A8}" type="parTrans" cxnId="{8716AEE2-5EF1-42C9-B2C6-5BB2852185DF}">
      <dgm:prSet/>
      <dgm:spPr/>
      <dgm:t>
        <a:bodyPr/>
        <a:lstStyle/>
        <a:p>
          <a:endParaRPr lang="en-US"/>
        </a:p>
      </dgm:t>
    </dgm:pt>
    <dgm:pt modelId="{C867BD04-E42D-4E36-9651-FF055F4AF5F0}" type="sibTrans" cxnId="{8716AEE2-5EF1-42C9-B2C6-5BB2852185DF}">
      <dgm:prSet/>
      <dgm:spPr/>
      <dgm:t>
        <a:bodyPr/>
        <a:lstStyle/>
        <a:p>
          <a:endParaRPr lang="en-US"/>
        </a:p>
      </dgm:t>
    </dgm:pt>
    <dgm:pt modelId="{49E2B0A6-6F15-3D4D-BF88-D0B2483CB55B}" type="pres">
      <dgm:prSet presAssocID="{92AF2611-4B58-ED43-AC9F-B952F610F406}" presName="rootnode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E975EE4B-D42E-E84D-8A4A-2906A98D9890}" type="pres">
      <dgm:prSet presAssocID="{26B4761A-8722-154A-9A4E-6B2E8309550C}" presName="composite" presStyleCnt="0"/>
      <dgm:spPr/>
    </dgm:pt>
    <dgm:pt modelId="{FC8198D2-B811-F543-848D-08253013A363}" type="pres">
      <dgm:prSet presAssocID="{26B4761A-8722-154A-9A4E-6B2E8309550C}" presName="bentUpArrow1" presStyleLbl="alignImgPlace1" presStyleIdx="0" presStyleCnt="5"/>
      <dgm:spPr/>
    </dgm:pt>
    <dgm:pt modelId="{1A27501D-E342-BE40-9448-5C65451E51A0}" type="pres">
      <dgm:prSet presAssocID="{26B4761A-8722-154A-9A4E-6B2E8309550C}" presName="ParentText" presStyleLbl="node1" presStyleIdx="0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3263DF5-F771-E44D-A3A6-7359AB5A694B}" type="pres">
      <dgm:prSet presAssocID="{26B4761A-8722-154A-9A4E-6B2E8309550C}" presName="ChildText" presStyleLbl="revTx" presStyleIdx="0" presStyleCnt="6" custScaleX="199197" custLinFactNeighborX="55604" custLinFactNeighborY="-155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405AD88-5681-5740-8B0F-785D5C4C54E3}" type="pres">
      <dgm:prSet presAssocID="{B2DCC36A-7A1A-4C4F-90DA-FAE4C97E6C7D}" presName="sibTrans" presStyleCnt="0"/>
      <dgm:spPr/>
    </dgm:pt>
    <dgm:pt modelId="{876C9C10-85C7-794D-BECA-7E6B3040BD5B}" type="pres">
      <dgm:prSet presAssocID="{16F9E631-8BA3-154F-A6E6-07CA57FBC2DB}" presName="composite" presStyleCnt="0"/>
      <dgm:spPr/>
    </dgm:pt>
    <dgm:pt modelId="{7249723C-E4C0-8E4E-9876-FECBD8EB4088}" type="pres">
      <dgm:prSet presAssocID="{16F9E631-8BA3-154F-A6E6-07CA57FBC2DB}" presName="bentUpArrow1" presStyleLbl="alignImgPlace1" presStyleIdx="1" presStyleCnt="5"/>
      <dgm:spPr/>
    </dgm:pt>
    <dgm:pt modelId="{7176A5BC-3282-044F-8AE1-17BEE6013828}" type="pres">
      <dgm:prSet presAssocID="{16F9E631-8BA3-154F-A6E6-07CA57FBC2DB}" presName="ParentText" presStyleLbl="node1" presStyleIdx="1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49E87F9-77C2-E148-A125-B75B32BAE82F}" type="pres">
      <dgm:prSet presAssocID="{16F9E631-8BA3-154F-A6E6-07CA57FBC2DB}" presName="ChildText" presStyleLbl="revTx" presStyleIdx="1" presStyleCnt="6" custScaleX="244962" custLinFactNeighborX="71475" custLinFactNeighborY="-155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7334212-A42F-5947-B178-28EE2431D98C}" type="pres">
      <dgm:prSet presAssocID="{40437896-D1C0-9744-812A-639F6C127825}" presName="sibTrans" presStyleCnt="0"/>
      <dgm:spPr/>
    </dgm:pt>
    <dgm:pt modelId="{797595AA-82E7-9A45-818A-CBFC19FC01B4}" type="pres">
      <dgm:prSet presAssocID="{63672145-F932-0941-9207-6FD21631945F}" presName="composite" presStyleCnt="0"/>
      <dgm:spPr/>
    </dgm:pt>
    <dgm:pt modelId="{582A57C3-E208-4C4D-8464-8F41E2B621E9}" type="pres">
      <dgm:prSet presAssocID="{63672145-F932-0941-9207-6FD21631945F}" presName="bentUpArrow1" presStyleLbl="alignImgPlace1" presStyleIdx="2" presStyleCnt="5"/>
      <dgm:spPr/>
    </dgm:pt>
    <dgm:pt modelId="{8AD4400A-F79C-8A4B-829B-0D720ED8FB8C}" type="pres">
      <dgm:prSet presAssocID="{63672145-F932-0941-9207-6FD21631945F}" presName="ParentText" presStyleLbl="node1" presStyleIdx="2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83D977E-49FE-154D-8370-6E0B15881094}" type="pres">
      <dgm:prSet presAssocID="{63672145-F932-0941-9207-6FD21631945F}" presName="ChildText" presStyleLbl="revTx" presStyleIdx="2" presStyleCnt="6" custScaleX="223363" custLinFactNeighborX="6117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1D4CC9D-D22F-A045-9B1F-02AFD777BA4F}" type="pres">
      <dgm:prSet presAssocID="{EE4E87B9-A6F7-D040-A8C9-2B94C61F8F15}" presName="sibTrans" presStyleCnt="0"/>
      <dgm:spPr/>
    </dgm:pt>
    <dgm:pt modelId="{9B1BB91C-DFAA-BB42-8883-6C779B3E0CC7}" type="pres">
      <dgm:prSet presAssocID="{180ED30E-9BB7-2945-8E67-38EC3B69034A}" presName="composite" presStyleCnt="0"/>
      <dgm:spPr/>
    </dgm:pt>
    <dgm:pt modelId="{97925E51-E8AA-DC48-BFEB-51206266AB1D}" type="pres">
      <dgm:prSet presAssocID="{180ED30E-9BB7-2945-8E67-38EC3B69034A}" presName="bentUpArrow1" presStyleLbl="alignImgPlace1" presStyleIdx="3" presStyleCnt="5"/>
      <dgm:spPr/>
    </dgm:pt>
    <dgm:pt modelId="{8D80E448-C06F-8440-B08E-C700B7FCCC29}" type="pres">
      <dgm:prSet presAssocID="{180ED30E-9BB7-2945-8E67-38EC3B69034A}" presName="ParentText" presStyleLbl="node1" presStyleIdx="3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F2F534D-82F4-5443-8CF7-5BBA47CF0517}" type="pres">
      <dgm:prSet presAssocID="{180ED30E-9BB7-2945-8E67-38EC3B69034A}" presName="ChildText" presStyleLbl="revTx" presStyleIdx="3" presStyleCnt="6" custScaleX="216934" custLinFactNeighborX="6682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D6671F9-E0CD-EF49-94DC-C96CAC8CC7E3}" type="pres">
      <dgm:prSet presAssocID="{9581D7FD-E2E0-0241-80C7-1BF3EEF3518C}" presName="sibTrans" presStyleCnt="0"/>
      <dgm:spPr/>
    </dgm:pt>
    <dgm:pt modelId="{E13DFC65-0620-5546-9284-95854B643695}" type="pres">
      <dgm:prSet presAssocID="{44352C0E-9228-1D41-9AC7-630454862AAB}" presName="composite" presStyleCnt="0"/>
      <dgm:spPr/>
    </dgm:pt>
    <dgm:pt modelId="{7EA63742-38C6-7343-AA79-52C3D9CCAB0D}" type="pres">
      <dgm:prSet presAssocID="{44352C0E-9228-1D41-9AC7-630454862AAB}" presName="bentUpArrow1" presStyleLbl="alignImgPlace1" presStyleIdx="4" presStyleCnt="5"/>
      <dgm:spPr/>
    </dgm:pt>
    <dgm:pt modelId="{2642E532-D17B-8549-B299-BABD4A6DF310}" type="pres">
      <dgm:prSet presAssocID="{44352C0E-9228-1D41-9AC7-630454862AAB}" presName="ParentText" presStyleLbl="node1" presStyleIdx="4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D72B732-04CC-5F4B-8E9C-09245727D3B9}" type="pres">
      <dgm:prSet presAssocID="{44352C0E-9228-1D41-9AC7-630454862AAB}" presName="ChildText" presStyleLbl="revTx" presStyleIdx="4" presStyleCnt="6" custScaleX="210506" custLinFactNeighborX="5458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EA532CE-6739-A24B-AAAE-6A1691A35034}" type="pres">
      <dgm:prSet presAssocID="{D2AC5C65-A520-AE49-8D76-EE23E4A07C4A}" presName="sibTrans" presStyleCnt="0"/>
      <dgm:spPr/>
    </dgm:pt>
    <dgm:pt modelId="{658BC9F3-2A00-F547-8C78-511B7194FAEB}" type="pres">
      <dgm:prSet presAssocID="{251E4A29-F563-D34A-A9F7-27833A2BC30D}" presName="composite" presStyleCnt="0"/>
      <dgm:spPr/>
    </dgm:pt>
    <dgm:pt modelId="{9CCCECD5-8ED0-AC43-9710-1DD092099D67}" type="pres">
      <dgm:prSet presAssocID="{251E4A29-F563-D34A-A9F7-27833A2BC30D}" presName="ParentText" presStyleLbl="node1" presStyleIdx="5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3853491-2B6C-1449-B71D-8247E1F629BF}" type="pres">
      <dgm:prSet presAssocID="{251E4A29-F563-D34A-A9F7-27833A2BC30D}" presName="FinalChildText" presStyleLbl="revTx" presStyleIdx="5" presStyleCnt="6" custScaleX="147605" custLinFactNeighborX="24471" custLinFactNeighborY="121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3FA6D3C-5F88-8E47-BDA9-BDE6C1BC6D58}" type="presOf" srcId="{712C06CF-58B4-8F4A-A1C3-18737522BAA5}" destId="{7F2F534D-82F4-5443-8CF7-5BBA47CF0517}" srcOrd="0" destOrd="0" presId="urn:microsoft.com/office/officeart/2005/8/layout/StepDownProcess"/>
    <dgm:cxn modelId="{634270FB-D54E-9B40-B519-40B9861B65C3}" type="presOf" srcId="{B761BE11-3B98-534C-8389-3D511BB432FF}" destId="{4D72B732-04CC-5F4B-8E9C-09245727D3B9}" srcOrd="0" destOrd="0" presId="urn:microsoft.com/office/officeart/2005/8/layout/StepDownProcess"/>
    <dgm:cxn modelId="{63981E6F-3BAE-44DB-B56D-A083004F0014}" type="presOf" srcId="{05C01FBF-0839-B840-AA40-B5D4B5EF9464}" destId="{D3853491-2B6C-1449-B71D-8247E1F629BF}" srcOrd="0" destOrd="0" presId="urn:microsoft.com/office/officeart/2005/8/layout/StepDownProcess"/>
    <dgm:cxn modelId="{552A83B2-FDAE-E143-BB66-928925B322B7}" srcId="{180ED30E-9BB7-2945-8E67-38EC3B69034A}" destId="{712C06CF-58B4-8F4A-A1C3-18737522BAA5}" srcOrd="0" destOrd="0" parTransId="{00A2F76A-F4C8-F042-BC58-5B28B1FEF030}" sibTransId="{F7A6ECC7-ED92-634B-B481-4D7D62B796B5}"/>
    <dgm:cxn modelId="{EA665ADD-A5EF-844A-8B63-2D7ECC046504}" type="presOf" srcId="{44352C0E-9228-1D41-9AC7-630454862AAB}" destId="{2642E532-D17B-8549-B299-BABD4A6DF310}" srcOrd="0" destOrd="0" presId="urn:microsoft.com/office/officeart/2005/8/layout/StepDownProcess"/>
    <dgm:cxn modelId="{9AF40E27-2800-9B4C-8D69-CAB8B8A8A099}" type="presOf" srcId="{251E4A29-F563-D34A-A9F7-27833A2BC30D}" destId="{9CCCECD5-8ED0-AC43-9710-1DD092099D67}" srcOrd="0" destOrd="0" presId="urn:microsoft.com/office/officeart/2005/8/layout/StepDownProcess"/>
    <dgm:cxn modelId="{1CB6C709-502E-8E44-80CB-B4138F9C85B8}" type="presOf" srcId="{CB6CE777-E645-594F-9F72-31FA50915471}" destId="{13263DF5-F771-E44D-A3A6-7359AB5A694B}" srcOrd="0" destOrd="0" presId="urn:microsoft.com/office/officeart/2005/8/layout/StepDownProcess"/>
    <dgm:cxn modelId="{5D2F70F4-D4C2-FD4A-B54D-45A310324ADC}" srcId="{92AF2611-4B58-ED43-AC9F-B952F610F406}" destId="{16F9E631-8BA3-154F-A6E6-07CA57FBC2DB}" srcOrd="1" destOrd="0" parTransId="{4BAA8D80-E90A-6945-90C2-16CAFC77FA6F}" sibTransId="{40437896-D1C0-9744-812A-639F6C127825}"/>
    <dgm:cxn modelId="{11A1E58A-ABF6-BE4D-91F0-325BCF38FC72}" type="presOf" srcId="{6469F03D-EC0D-E14C-9147-635163E16719}" destId="{383D977E-49FE-154D-8370-6E0B15881094}" srcOrd="0" destOrd="0" presId="urn:microsoft.com/office/officeart/2005/8/layout/StepDownProcess"/>
    <dgm:cxn modelId="{112C4A37-BD1F-0D4F-8BDF-AF61C42AA624}" srcId="{92AF2611-4B58-ED43-AC9F-B952F610F406}" destId="{63672145-F932-0941-9207-6FD21631945F}" srcOrd="2" destOrd="0" parTransId="{DA9256D3-306A-2647-A641-4B0B371AA471}" sibTransId="{EE4E87B9-A6F7-D040-A8C9-2B94C61F8F15}"/>
    <dgm:cxn modelId="{C4FEA40D-24EF-084F-959C-D30F2BA028D3}" type="presOf" srcId="{26B4761A-8722-154A-9A4E-6B2E8309550C}" destId="{1A27501D-E342-BE40-9448-5C65451E51A0}" srcOrd="0" destOrd="0" presId="urn:microsoft.com/office/officeart/2005/8/layout/StepDownProcess"/>
    <dgm:cxn modelId="{69DAFA03-0878-9247-9AF4-F13FE4FF5D9B}" srcId="{63672145-F932-0941-9207-6FD21631945F}" destId="{6469F03D-EC0D-E14C-9147-635163E16719}" srcOrd="0" destOrd="0" parTransId="{31D6F60D-A7D1-C54D-964D-3B8790B82FA4}" sibTransId="{DCECCFCD-FFA0-2B4E-8620-4D260FCCA4E0}"/>
    <dgm:cxn modelId="{3038282E-24E0-754A-9BCA-5EB4B0881EBE}" type="presOf" srcId="{16F9E631-8BA3-154F-A6E6-07CA57FBC2DB}" destId="{7176A5BC-3282-044F-8AE1-17BEE6013828}" srcOrd="0" destOrd="0" presId="urn:microsoft.com/office/officeart/2005/8/layout/StepDownProcess"/>
    <dgm:cxn modelId="{553CD0FD-F2FB-3140-8551-691D85FC1D01}" type="presOf" srcId="{180ED30E-9BB7-2945-8E67-38EC3B69034A}" destId="{8D80E448-C06F-8440-B08E-C700B7FCCC29}" srcOrd="0" destOrd="0" presId="urn:microsoft.com/office/officeart/2005/8/layout/StepDownProcess"/>
    <dgm:cxn modelId="{90051663-645C-6042-B826-BF1BEE404513}" type="presOf" srcId="{63672145-F932-0941-9207-6FD21631945F}" destId="{8AD4400A-F79C-8A4B-829B-0D720ED8FB8C}" srcOrd="0" destOrd="0" presId="urn:microsoft.com/office/officeart/2005/8/layout/StepDownProcess"/>
    <dgm:cxn modelId="{570398A5-7B9B-684E-836B-828C67CE95B5}" srcId="{251E4A29-F563-D34A-A9F7-27833A2BC30D}" destId="{05C01FBF-0839-B840-AA40-B5D4B5EF9464}" srcOrd="0" destOrd="0" parTransId="{4292C26E-910E-F242-B4EA-85C15677A931}" sibTransId="{9CE79F6D-8C8B-134E-870B-A3814A161031}"/>
    <dgm:cxn modelId="{3CBBF823-4682-A649-AD39-366A0823CC07}" srcId="{92AF2611-4B58-ED43-AC9F-B952F610F406}" destId="{26B4761A-8722-154A-9A4E-6B2E8309550C}" srcOrd="0" destOrd="0" parTransId="{19278814-36C8-0643-9FFA-66C8A44E8EEC}" sibTransId="{B2DCC36A-7A1A-4C4F-90DA-FAE4C97E6C7D}"/>
    <dgm:cxn modelId="{84262DD1-54DB-8D42-9C16-B543B3BB3374}" srcId="{26B4761A-8722-154A-9A4E-6B2E8309550C}" destId="{CB6CE777-E645-594F-9F72-31FA50915471}" srcOrd="0" destOrd="0" parTransId="{A3FA10DA-B8BC-6B42-A66B-27F9CED77F23}" sibTransId="{F64EEB12-0851-6B4F-BF84-33083DA26F4B}"/>
    <dgm:cxn modelId="{75B1AC24-2247-418E-917B-87CFE3A11370}" type="presOf" srcId="{CA627FEB-5C4C-4C51-8A75-FEFCA4466D7B}" destId="{849E87F9-77C2-E148-A125-B75B32BAE82F}" srcOrd="0" destOrd="0" presId="urn:microsoft.com/office/officeart/2005/8/layout/StepDownProcess"/>
    <dgm:cxn modelId="{8716AEE2-5EF1-42C9-B2C6-5BB2852185DF}" srcId="{16F9E631-8BA3-154F-A6E6-07CA57FBC2DB}" destId="{CA627FEB-5C4C-4C51-8A75-FEFCA4466D7B}" srcOrd="0" destOrd="0" parTransId="{312DFEE4-A0BE-4287-98A9-69EE828C53A8}" sibTransId="{C867BD04-E42D-4E36-9651-FF055F4AF5F0}"/>
    <dgm:cxn modelId="{E336EE89-5EC2-AE4C-81C9-2EBDE6E482D4}" srcId="{92AF2611-4B58-ED43-AC9F-B952F610F406}" destId="{251E4A29-F563-D34A-A9F7-27833A2BC30D}" srcOrd="5" destOrd="0" parTransId="{B9E7D4BF-66C0-D046-BA68-7E24F4AB0843}" sibTransId="{57ED735E-B5D2-C749-867E-EB96611C0B8B}"/>
    <dgm:cxn modelId="{15010B8E-8FC6-034B-A7AD-F331240F7012}" srcId="{92AF2611-4B58-ED43-AC9F-B952F610F406}" destId="{180ED30E-9BB7-2945-8E67-38EC3B69034A}" srcOrd="3" destOrd="0" parTransId="{CCFA8DD9-517C-4C48-9ACE-EAEC7B4B1D8D}" sibTransId="{9581D7FD-E2E0-0241-80C7-1BF3EEF3518C}"/>
    <dgm:cxn modelId="{016D9485-956C-624D-A592-DDA4E4AA6CC5}" srcId="{92AF2611-4B58-ED43-AC9F-B952F610F406}" destId="{44352C0E-9228-1D41-9AC7-630454862AAB}" srcOrd="4" destOrd="0" parTransId="{BB03014B-614B-4E4D-B179-22BF96D1FDA5}" sibTransId="{D2AC5C65-A520-AE49-8D76-EE23E4A07C4A}"/>
    <dgm:cxn modelId="{D8BB2438-DD45-0A49-8E75-A834C7834329}" type="presOf" srcId="{92AF2611-4B58-ED43-AC9F-B952F610F406}" destId="{49E2B0A6-6F15-3D4D-BF88-D0B2483CB55B}" srcOrd="0" destOrd="0" presId="urn:microsoft.com/office/officeart/2005/8/layout/StepDownProcess"/>
    <dgm:cxn modelId="{7F3F2935-1376-434A-B6E9-CEA12E0D559A}" srcId="{44352C0E-9228-1D41-9AC7-630454862AAB}" destId="{B761BE11-3B98-534C-8389-3D511BB432FF}" srcOrd="0" destOrd="0" parTransId="{53F8C2F9-90C5-F04A-B13E-59A7DBEEB722}" sibTransId="{1CFC13B1-0710-8745-A251-B44B9B630299}"/>
    <dgm:cxn modelId="{CAA58818-923B-6242-9847-11CD1A086880}" type="presParOf" srcId="{49E2B0A6-6F15-3D4D-BF88-D0B2483CB55B}" destId="{E975EE4B-D42E-E84D-8A4A-2906A98D9890}" srcOrd="0" destOrd="0" presId="urn:microsoft.com/office/officeart/2005/8/layout/StepDownProcess"/>
    <dgm:cxn modelId="{D0DD2577-622D-2948-8D96-837600176068}" type="presParOf" srcId="{E975EE4B-D42E-E84D-8A4A-2906A98D9890}" destId="{FC8198D2-B811-F543-848D-08253013A363}" srcOrd="0" destOrd="0" presId="urn:microsoft.com/office/officeart/2005/8/layout/StepDownProcess"/>
    <dgm:cxn modelId="{8328243B-B6DB-724C-8C50-F098B7AAF6D6}" type="presParOf" srcId="{E975EE4B-D42E-E84D-8A4A-2906A98D9890}" destId="{1A27501D-E342-BE40-9448-5C65451E51A0}" srcOrd="1" destOrd="0" presId="urn:microsoft.com/office/officeart/2005/8/layout/StepDownProcess"/>
    <dgm:cxn modelId="{A0EEA3E4-28F5-9347-B752-8F465E17DB0E}" type="presParOf" srcId="{E975EE4B-D42E-E84D-8A4A-2906A98D9890}" destId="{13263DF5-F771-E44D-A3A6-7359AB5A694B}" srcOrd="2" destOrd="0" presId="urn:microsoft.com/office/officeart/2005/8/layout/StepDownProcess"/>
    <dgm:cxn modelId="{47F02AFF-9AD0-A041-B89E-95A3ABC44E39}" type="presParOf" srcId="{49E2B0A6-6F15-3D4D-BF88-D0B2483CB55B}" destId="{1405AD88-5681-5740-8B0F-785D5C4C54E3}" srcOrd="1" destOrd="0" presId="urn:microsoft.com/office/officeart/2005/8/layout/StepDownProcess"/>
    <dgm:cxn modelId="{CC26F27A-2F31-7B4F-A3D5-F58113FB0928}" type="presParOf" srcId="{49E2B0A6-6F15-3D4D-BF88-D0B2483CB55B}" destId="{876C9C10-85C7-794D-BECA-7E6B3040BD5B}" srcOrd="2" destOrd="0" presId="urn:microsoft.com/office/officeart/2005/8/layout/StepDownProcess"/>
    <dgm:cxn modelId="{D59FA65B-1A0F-1E47-B691-93027AEC90BA}" type="presParOf" srcId="{876C9C10-85C7-794D-BECA-7E6B3040BD5B}" destId="{7249723C-E4C0-8E4E-9876-FECBD8EB4088}" srcOrd="0" destOrd="0" presId="urn:microsoft.com/office/officeart/2005/8/layout/StepDownProcess"/>
    <dgm:cxn modelId="{51EB45CC-B96D-5D43-AF1B-84E3B2B8AED1}" type="presParOf" srcId="{876C9C10-85C7-794D-BECA-7E6B3040BD5B}" destId="{7176A5BC-3282-044F-8AE1-17BEE6013828}" srcOrd="1" destOrd="0" presId="urn:microsoft.com/office/officeart/2005/8/layout/StepDownProcess"/>
    <dgm:cxn modelId="{5CEB0EC2-0F54-B24C-B1F0-0B003EF1C5A2}" type="presParOf" srcId="{876C9C10-85C7-794D-BECA-7E6B3040BD5B}" destId="{849E87F9-77C2-E148-A125-B75B32BAE82F}" srcOrd="2" destOrd="0" presId="urn:microsoft.com/office/officeart/2005/8/layout/StepDownProcess"/>
    <dgm:cxn modelId="{D6478E3B-05EF-9646-A75F-F4ED66F49E38}" type="presParOf" srcId="{49E2B0A6-6F15-3D4D-BF88-D0B2483CB55B}" destId="{A7334212-A42F-5947-B178-28EE2431D98C}" srcOrd="3" destOrd="0" presId="urn:microsoft.com/office/officeart/2005/8/layout/StepDownProcess"/>
    <dgm:cxn modelId="{23FBC6FD-CDBE-FA4C-8441-E7B27BF05A51}" type="presParOf" srcId="{49E2B0A6-6F15-3D4D-BF88-D0B2483CB55B}" destId="{797595AA-82E7-9A45-818A-CBFC19FC01B4}" srcOrd="4" destOrd="0" presId="urn:microsoft.com/office/officeart/2005/8/layout/StepDownProcess"/>
    <dgm:cxn modelId="{145F56CF-4320-FE4F-8156-055F9762B34B}" type="presParOf" srcId="{797595AA-82E7-9A45-818A-CBFC19FC01B4}" destId="{582A57C3-E208-4C4D-8464-8F41E2B621E9}" srcOrd="0" destOrd="0" presId="urn:microsoft.com/office/officeart/2005/8/layout/StepDownProcess"/>
    <dgm:cxn modelId="{45C34818-F1AF-F649-A01C-A6D8DD6977AD}" type="presParOf" srcId="{797595AA-82E7-9A45-818A-CBFC19FC01B4}" destId="{8AD4400A-F79C-8A4B-829B-0D720ED8FB8C}" srcOrd="1" destOrd="0" presId="urn:microsoft.com/office/officeart/2005/8/layout/StepDownProcess"/>
    <dgm:cxn modelId="{FF01D02D-F3EF-2B41-B125-417E412F83BB}" type="presParOf" srcId="{797595AA-82E7-9A45-818A-CBFC19FC01B4}" destId="{383D977E-49FE-154D-8370-6E0B15881094}" srcOrd="2" destOrd="0" presId="urn:microsoft.com/office/officeart/2005/8/layout/StepDownProcess"/>
    <dgm:cxn modelId="{A608A5D7-E92F-3241-8C20-975A35A4E8FD}" type="presParOf" srcId="{49E2B0A6-6F15-3D4D-BF88-D0B2483CB55B}" destId="{51D4CC9D-D22F-A045-9B1F-02AFD777BA4F}" srcOrd="5" destOrd="0" presId="urn:microsoft.com/office/officeart/2005/8/layout/StepDownProcess"/>
    <dgm:cxn modelId="{B7ED08C4-F562-F343-AE8C-1411DA99F4EB}" type="presParOf" srcId="{49E2B0A6-6F15-3D4D-BF88-D0B2483CB55B}" destId="{9B1BB91C-DFAA-BB42-8883-6C779B3E0CC7}" srcOrd="6" destOrd="0" presId="urn:microsoft.com/office/officeart/2005/8/layout/StepDownProcess"/>
    <dgm:cxn modelId="{A5A50A0E-B79B-C34C-ADC7-C80B5C746A06}" type="presParOf" srcId="{9B1BB91C-DFAA-BB42-8883-6C779B3E0CC7}" destId="{97925E51-E8AA-DC48-BFEB-51206266AB1D}" srcOrd="0" destOrd="0" presId="urn:microsoft.com/office/officeart/2005/8/layout/StepDownProcess"/>
    <dgm:cxn modelId="{7C19BC84-CC29-EF4A-BC81-B1BE7CAADD4B}" type="presParOf" srcId="{9B1BB91C-DFAA-BB42-8883-6C779B3E0CC7}" destId="{8D80E448-C06F-8440-B08E-C700B7FCCC29}" srcOrd="1" destOrd="0" presId="urn:microsoft.com/office/officeart/2005/8/layout/StepDownProcess"/>
    <dgm:cxn modelId="{4C51BF22-07FD-FA4A-B14F-9FA0B702E5DB}" type="presParOf" srcId="{9B1BB91C-DFAA-BB42-8883-6C779B3E0CC7}" destId="{7F2F534D-82F4-5443-8CF7-5BBA47CF0517}" srcOrd="2" destOrd="0" presId="urn:microsoft.com/office/officeart/2005/8/layout/StepDownProcess"/>
    <dgm:cxn modelId="{729F0557-5384-6B4B-86BF-CDDE5C1D202F}" type="presParOf" srcId="{49E2B0A6-6F15-3D4D-BF88-D0B2483CB55B}" destId="{CD6671F9-E0CD-EF49-94DC-C96CAC8CC7E3}" srcOrd="7" destOrd="0" presId="urn:microsoft.com/office/officeart/2005/8/layout/StepDownProcess"/>
    <dgm:cxn modelId="{36E3AD21-65D7-B24C-B4D3-B7520133DB1C}" type="presParOf" srcId="{49E2B0A6-6F15-3D4D-BF88-D0B2483CB55B}" destId="{E13DFC65-0620-5546-9284-95854B643695}" srcOrd="8" destOrd="0" presId="urn:microsoft.com/office/officeart/2005/8/layout/StepDownProcess"/>
    <dgm:cxn modelId="{DD62FE2A-BC28-3E4D-BD4E-F24534EEBE0F}" type="presParOf" srcId="{E13DFC65-0620-5546-9284-95854B643695}" destId="{7EA63742-38C6-7343-AA79-52C3D9CCAB0D}" srcOrd="0" destOrd="0" presId="urn:microsoft.com/office/officeart/2005/8/layout/StepDownProcess"/>
    <dgm:cxn modelId="{75CB6DD7-E609-FF41-BFDA-AA78B1AF772C}" type="presParOf" srcId="{E13DFC65-0620-5546-9284-95854B643695}" destId="{2642E532-D17B-8549-B299-BABD4A6DF310}" srcOrd="1" destOrd="0" presId="urn:microsoft.com/office/officeart/2005/8/layout/StepDownProcess"/>
    <dgm:cxn modelId="{2D895992-0610-7847-8717-588D1860CD72}" type="presParOf" srcId="{E13DFC65-0620-5546-9284-95854B643695}" destId="{4D72B732-04CC-5F4B-8E9C-09245727D3B9}" srcOrd="2" destOrd="0" presId="urn:microsoft.com/office/officeart/2005/8/layout/StepDownProcess"/>
    <dgm:cxn modelId="{317597CB-5F05-5C46-8E98-608B8CB7DEA7}" type="presParOf" srcId="{49E2B0A6-6F15-3D4D-BF88-D0B2483CB55B}" destId="{6EA532CE-6739-A24B-AAAE-6A1691A35034}" srcOrd="9" destOrd="0" presId="urn:microsoft.com/office/officeart/2005/8/layout/StepDownProcess"/>
    <dgm:cxn modelId="{07B25F14-FD1D-C644-863E-76AE9B1DE37A}" type="presParOf" srcId="{49E2B0A6-6F15-3D4D-BF88-D0B2483CB55B}" destId="{658BC9F3-2A00-F547-8C78-511B7194FAEB}" srcOrd="10" destOrd="0" presId="urn:microsoft.com/office/officeart/2005/8/layout/StepDownProcess"/>
    <dgm:cxn modelId="{B023C484-9503-1F4F-8378-A4C3B820ACFA}" type="presParOf" srcId="{658BC9F3-2A00-F547-8C78-511B7194FAEB}" destId="{9CCCECD5-8ED0-AC43-9710-1DD092099D67}" srcOrd="0" destOrd="0" presId="urn:microsoft.com/office/officeart/2005/8/layout/StepDownProcess"/>
    <dgm:cxn modelId="{223E57CC-DC7E-483C-B9ED-63C99E899EA7}" type="presParOf" srcId="{658BC9F3-2A00-F547-8C78-511B7194FAEB}" destId="{D3853491-2B6C-1449-B71D-8247E1F629BF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8198D2-B811-F543-848D-08253013A363}">
      <dsp:nvSpPr>
        <dsp:cNvPr id="0" name=""/>
        <dsp:cNvSpPr/>
      </dsp:nvSpPr>
      <dsp:spPr>
        <a:xfrm rot="5400000">
          <a:off x="1033738" y="703706"/>
          <a:ext cx="605733" cy="68960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27501D-E342-BE40-9448-5C65451E51A0}">
      <dsp:nvSpPr>
        <dsp:cNvPr id="0" name=""/>
        <dsp:cNvSpPr/>
      </dsp:nvSpPr>
      <dsp:spPr>
        <a:xfrm>
          <a:off x="873256" y="32238"/>
          <a:ext cx="1019698" cy="713756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>
              <a:solidFill>
                <a:schemeClr val="tx1"/>
              </a:solidFill>
            </a:rPr>
            <a:t>Abstract Submission</a:t>
          </a:r>
        </a:p>
      </dsp:txBody>
      <dsp:txXfrm>
        <a:off x="908105" y="67087"/>
        <a:ext cx="950000" cy="644058"/>
      </dsp:txXfrm>
    </dsp:sp>
    <dsp:sp modelId="{13263DF5-F771-E44D-A3A6-7359AB5A694B}">
      <dsp:nvSpPr>
        <dsp:cNvPr id="0" name=""/>
        <dsp:cNvSpPr/>
      </dsp:nvSpPr>
      <dsp:spPr>
        <a:xfrm>
          <a:off x="1937493" y="91346"/>
          <a:ext cx="1477308" cy="5768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>
              <a:solidFill>
                <a:schemeClr val="tx1"/>
              </a:solidFill>
            </a:rPr>
            <a:t>&lt;August 2026&gt;</a:t>
          </a:r>
          <a:endParaRPr lang="en-US" sz="1000" kern="1200" dirty="0">
            <a:solidFill>
              <a:schemeClr val="tx1"/>
            </a:solidFill>
          </a:endParaRPr>
        </a:p>
      </dsp:txBody>
      <dsp:txXfrm>
        <a:off x="1937493" y="91346"/>
        <a:ext cx="1477308" cy="576889"/>
      </dsp:txXfrm>
    </dsp:sp>
    <dsp:sp modelId="{7249723C-E4C0-8E4E-9876-FECBD8EB4088}">
      <dsp:nvSpPr>
        <dsp:cNvPr id="0" name=""/>
        <dsp:cNvSpPr/>
      </dsp:nvSpPr>
      <dsp:spPr>
        <a:xfrm rot="5400000">
          <a:off x="2055740" y="1505490"/>
          <a:ext cx="605733" cy="68960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76A5BC-3282-044F-8AE1-17BEE6013828}">
      <dsp:nvSpPr>
        <dsp:cNvPr id="0" name=""/>
        <dsp:cNvSpPr/>
      </dsp:nvSpPr>
      <dsp:spPr>
        <a:xfrm>
          <a:off x="1895257" y="834022"/>
          <a:ext cx="1019698" cy="713756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>
              <a:solidFill>
                <a:schemeClr val="tx1"/>
              </a:solidFill>
            </a:rPr>
            <a:t>Literature Survey</a:t>
          </a:r>
        </a:p>
      </dsp:txBody>
      <dsp:txXfrm>
        <a:off x="1930106" y="868871"/>
        <a:ext cx="950000" cy="644058"/>
      </dsp:txXfrm>
    </dsp:sp>
    <dsp:sp modelId="{849E87F9-77C2-E148-A125-B75B32BAE82F}">
      <dsp:nvSpPr>
        <dsp:cNvPr id="0" name=""/>
        <dsp:cNvSpPr/>
      </dsp:nvSpPr>
      <dsp:spPr>
        <a:xfrm>
          <a:off x="2907495" y="893130"/>
          <a:ext cx="1816716" cy="5768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50" kern="1200" dirty="0" smtClean="0">
              <a:solidFill>
                <a:schemeClr val="tx1"/>
              </a:solidFill>
            </a:rPr>
            <a:t>&lt;August 2026&gt;</a:t>
          </a:r>
          <a:endParaRPr lang="en-US" sz="1050" kern="1200" dirty="0">
            <a:solidFill>
              <a:schemeClr val="tx1"/>
            </a:solidFill>
          </a:endParaRPr>
        </a:p>
      </dsp:txBody>
      <dsp:txXfrm>
        <a:off x="2907495" y="893130"/>
        <a:ext cx="1816716" cy="576889"/>
      </dsp:txXfrm>
    </dsp:sp>
    <dsp:sp modelId="{582A57C3-E208-4C4D-8464-8F41E2B621E9}">
      <dsp:nvSpPr>
        <dsp:cNvPr id="0" name=""/>
        <dsp:cNvSpPr/>
      </dsp:nvSpPr>
      <dsp:spPr>
        <a:xfrm rot="5400000">
          <a:off x="3077741" y="2307273"/>
          <a:ext cx="605733" cy="68960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D4400A-F79C-8A4B-829B-0D720ED8FB8C}">
      <dsp:nvSpPr>
        <dsp:cNvPr id="0" name=""/>
        <dsp:cNvSpPr/>
      </dsp:nvSpPr>
      <dsp:spPr>
        <a:xfrm>
          <a:off x="2917258" y="1635806"/>
          <a:ext cx="1019698" cy="713756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>
              <a:solidFill>
                <a:schemeClr val="tx1"/>
              </a:solidFill>
            </a:rPr>
            <a:t>Design [Front End, Back End]</a:t>
          </a:r>
        </a:p>
      </dsp:txBody>
      <dsp:txXfrm>
        <a:off x="2952107" y="1670655"/>
        <a:ext cx="950000" cy="644058"/>
      </dsp:txXfrm>
    </dsp:sp>
    <dsp:sp modelId="{383D977E-49FE-154D-8370-6E0B15881094}">
      <dsp:nvSpPr>
        <dsp:cNvPr id="0" name=""/>
        <dsp:cNvSpPr/>
      </dsp:nvSpPr>
      <dsp:spPr>
        <a:xfrm>
          <a:off x="3933215" y="1703878"/>
          <a:ext cx="1656531" cy="5768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>
              <a:solidFill>
                <a:schemeClr val="tx1"/>
              </a:solidFill>
            </a:rPr>
            <a:t>&lt;September/October 2026&gt;</a:t>
          </a:r>
          <a:endParaRPr lang="en-US" sz="1100" kern="1200" dirty="0">
            <a:solidFill>
              <a:schemeClr val="tx1"/>
            </a:solidFill>
          </a:endParaRPr>
        </a:p>
      </dsp:txBody>
      <dsp:txXfrm>
        <a:off x="3933215" y="1703878"/>
        <a:ext cx="1656531" cy="576889"/>
      </dsp:txXfrm>
    </dsp:sp>
    <dsp:sp modelId="{97925E51-E8AA-DC48-BFEB-51206266AB1D}">
      <dsp:nvSpPr>
        <dsp:cNvPr id="0" name=""/>
        <dsp:cNvSpPr/>
      </dsp:nvSpPr>
      <dsp:spPr>
        <a:xfrm rot="5400000">
          <a:off x="4099742" y="3109057"/>
          <a:ext cx="605733" cy="68960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80E448-C06F-8440-B08E-C700B7FCCC29}">
      <dsp:nvSpPr>
        <dsp:cNvPr id="0" name=""/>
        <dsp:cNvSpPr/>
      </dsp:nvSpPr>
      <dsp:spPr>
        <a:xfrm>
          <a:off x="3939259" y="2437589"/>
          <a:ext cx="1019698" cy="713756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>
              <a:solidFill>
                <a:schemeClr val="tx1"/>
              </a:solidFill>
            </a:rPr>
            <a:t>Implementation</a:t>
          </a:r>
        </a:p>
      </dsp:txBody>
      <dsp:txXfrm>
        <a:off x="3974108" y="2472438"/>
        <a:ext cx="950000" cy="644058"/>
      </dsp:txXfrm>
    </dsp:sp>
    <dsp:sp modelId="{7F2F534D-82F4-5443-8CF7-5BBA47CF0517}">
      <dsp:nvSpPr>
        <dsp:cNvPr id="0" name=""/>
        <dsp:cNvSpPr/>
      </dsp:nvSpPr>
      <dsp:spPr>
        <a:xfrm>
          <a:off x="5020944" y="2505662"/>
          <a:ext cx="1608851" cy="5768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>
              <a:solidFill>
                <a:schemeClr val="tx1"/>
              </a:solidFill>
            </a:rPr>
            <a:t>&lt;January 2027&gt;</a:t>
          </a:r>
          <a:endParaRPr lang="en-US" sz="1100" kern="1200" dirty="0">
            <a:solidFill>
              <a:schemeClr val="tx1"/>
            </a:solidFill>
          </a:endParaRPr>
        </a:p>
      </dsp:txBody>
      <dsp:txXfrm>
        <a:off x="5020944" y="2505662"/>
        <a:ext cx="1608851" cy="576889"/>
      </dsp:txXfrm>
    </dsp:sp>
    <dsp:sp modelId="{7EA63742-38C6-7343-AA79-52C3D9CCAB0D}">
      <dsp:nvSpPr>
        <dsp:cNvPr id="0" name=""/>
        <dsp:cNvSpPr/>
      </dsp:nvSpPr>
      <dsp:spPr>
        <a:xfrm rot="5400000">
          <a:off x="5121743" y="3910841"/>
          <a:ext cx="605733" cy="68960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42E532-D17B-8549-B299-BABD4A6DF310}">
      <dsp:nvSpPr>
        <dsp:cNvPr id="0" name=""/>
        <dsp:cNvSpPr/>
      </dsp:nvSpPr>
      <dsp:spPr>
        <a:xfrm>
          <a:off x="4961260" y="3239373"/>
          <a:ext cx="1019698" cy="713756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>
              <a:solidFill>
                <a:schemeClr val="tx1"/>
              </a:solidFill>
            </a:rPr>
            <a:t>Testing</a:t>
          </a:r>
        </a:p>
      </dsp:txBody>
      <dsp:txXfrm>
        <a:off x="4996109" y="3274222"/>
        <a:ext cx="950000" cy="644058"/>
      </dsp:txXfrm>
    </dsp:sp>
    <dsp:sp modelId="{4D72B732-04CC-5F4B-8E9C-09245727D3B9}">
      <dsp:nvSpPr>
        <dsp:cNvPr id="0" name=""/>
        <dsp:cNvSpPr/>
      </dsp:nvSpPr>
      <dsp:spPr>
        <a:xfrm>
          <a:off x="5976027" y="3307446"/>
          <a:ext cx="1561179" cy="5768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>
              <a:solidFill>
                <a:schemeClr val="tx1"/>
              </a:solidFill>
            </a:rPr>
            <a:t>&lt;March 2027&gt;</a:t>
          </a:r>
          <a:endParaRPr lang="en-US" sz="1000" kern="1200" dirty="0">
            <a:solidFill>
              <a:schemeClr val="tx1"/>
            </a:solidFill>
          </a:endParaRPr>
        </a:p>
      </dsp:txBody>
      <dsp:txXfrm>
        <a:off x="5976027" y="3307446"/>
        <a:ext cx="1561179" cy="576889"/>
      </dsp:txXfrm>
    </dsp:sp>
    <dsp:sp modelId="{9CCCECD5-8ED0-AC43-9710-1DD092099D67}">
      <dsp:nvSpPr>
        <dsp:cNvPr id="0" name=""/>
        <dsp:cNvSpPr/>
      </dsp:nvSpPr>
      <dsp:spPr>
        <a:xfrm>
          <a:off x="5983262" y="4041157"/>
          <a:ext cx="1019698" cy="713756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>
              <a:solidFill>
                <a:schemeClr val="tx1"/>
              </a:solidFill>
            </a:rPr>
            <a:t>Document Submission</a:t>
          </a:r>
        </a:p>
      </dsp:txBody>
      <dsp:txXfrm>
        <a:off x="6018111" y="4076006"/>
        <a:ext cx="950000" cy="644058"/>
      </dsp:txXfrm>
    </dsp:sp>
    <dsp:sp modelId="{D3853491-2B6C-1449-B71D-8247E1F629BF}">
      <dsp:nvSpPr>
        <dsp:cNvPr id="0" name=""/>
        <dsp:cNvSpPr/>
      </dsp:nvSpPr>
      <dsp:spPr>
        <a:xfrm>
          <a:off x="7007918" y="4116210"/>
          <a:ext cx="1094685" cy="5768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>
              <a:solidFill>
                <a:schemeClr val="tx1"/>
              </a:solidFill>
            </a:rPr>
            <a:t>&lt;April 2027&gt;</a:t>
          </a:r>
          <a:endParaRPr lang="en-US" sz="1000" kern="1200" dirty="0">
            <a:solidFill>
              <a:schemeClr val="tx1"/>
            </a:solidFill>
          </a:endParaRPr>
        </a:p>
      </dsp:txBody>
      <dsp:txXfrm>
        <a:off x="7007918" y="4116210"/>
        <a:ext cx="1094685" cy="5768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7" name="Shape 1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7739982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n-lt"/>
        <a:ea typeface="+mn-ea"/>
        <a:cs typeface="+mn-cs"/>
        <a:sym typeface="Arial"/>
      </a:defRPr>
    </a:lvl1pPr>
    <a:lvl2pPr indent="228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2pPr>
    <a:lvl3pPr indent="457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3pPr>
    <a:lvl4pPr indent="685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4pPr>
    <a:lvl5pPr indent="9144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5pPr>
    <a:lvl6pPr indent="11430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6pPr>
    <a:lvl7pPr indent="1371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7pPr>
    <a:lvl8pPr indent="1600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8pPr>
    <a:lvl9pPr indent="1828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15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24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25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26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27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36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48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49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50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51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60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61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62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63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72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73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74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84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85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86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87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96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98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99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108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110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111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sp>
        <p:nvSpPr>
          <p:cNvPr id="3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pic>
        <p:nvPicPr>
          <p:cNvPr id="4" name="image.png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38100"/>
            <a:ext cx="1104900" cy="11049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308692" y="381000"/>
            <a:ext cx="301909" cy="288824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" name="Title Text"/>
          <p:cNvSpPr txBox="1">
            <a:spLocks noGrp="1"/>
          </p:cNvSpPr>
          <p:nvPr>
            <p:ph type="title"/>
          </p:nvPr>
        </p:nvSpPr>
        <p:spPr>
          <a:xfrm>
            <a:off x="457200" y="92074"/>
            <a:ext cx="82296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7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med"/>
  <p:hf hdr="0" dt="0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457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9144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1371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1828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661307" marR="0" indent="-204107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–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1200150" marR="0" indent="-28575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1600200" marR="0" indent="-2286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–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20828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25400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29972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34544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39116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 dirty="0"/>
          </a:p>
        </p:txBody>
      </p:sp>
      <p:sp>
        <p:nvSpPr>
          <p:cNvPr id="131" name="Z-SPA"/>
          <p:cNvSpPr txBox="1">
            <a:spLocks noGrp="1"/>
          </p:cNvSpPr>
          <p:nvPr>
            <p:ph type="title"/>
          </p:nvPr>
        </p:nvSpPr>
        <p:spPr>
          <a:xfrm>
            <a:off x="723900" y="1306873"/>
            <a:ext cx="7696200" cy="1912596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defRPr sz="4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2600" dirty="0"/>
              <a:t>Temporally-Aware, Explainable Multimodal Sleep Stage Classification with LLM-Generated Reports and Cross-Dataset Validation</a:t>
            </a:r>
            <a:br>
              <a:rPr lang="en-GB" sz="2600" dirty="0"/>
            </a:br>
            <a:r>
              <a:rPr lang="en-GB" sz="1800" dirty="0" smtClean="0"/>
              <a:t>23AID498 Project </a:t>
            </a:r>
            <a:r>
              <a:rPr lang="en-GB" sz="1800" dirty="0"/>
              <a:t>Phase </a:t>
            </a:r>
            <a:r>
              <a:rPr lang="en-GB" sz="1800" dirty="0" smtClean="0"/>
              <a:t>1 </a:t>
            </a:r>
            <a:r>
              <a:rPr lang="en-GB" sz="1800" dirty="0"/>
              <a:t>– Approval Presentation</a:t>
            </a:r>
            <a:r>
              <a:rPr lang="en-GB" sz="2600" dirty="0"/>
              <a:t/>
            </a:r>
            <a:br>
              <a:rPr lang="en-GB" sz="2600" dirty="0"/>
            </a:br>
            <a:r>
              <a:rPr lang="en-GB" sz="2600" dirty="0"/>
              <a:t/>
            </a:r>
            <a:br>
              <a:rPr lang="en-GB" sz="2600" dirty="0"/>
            </a:br>
            <a:r>
              <a:rPr lang="en-GB" sz="1800" dirty="0"/>
              <a:t>Team ID: </a:t>
            </a:r>
            <a:r>
              <a:rPr lang="en-GB" sz="1800" dirty="0" smtClean="0"/>
              <a:t>23UG103</a:t>
            </a:r>
            <a:r>
              <a:rPr lang="en-GB" sz="1800" dirty="0"/>
              <a:t>			Panel No.: </a:t>
            </a:r>
            <a:r>
              <a:rPr lang="en-GB" sz="1800" dirty="0" smtClean="0"/>
              <a:t>8</a:t>
            </a:r>
            <a:endParaRPr sz="2600" b="0" dirty="0"/>
          </a:p>
        </p:txBody>
      </p:sp>
      <p:sp>
        <p:nvSpPr>
          <p:cNvPr id="132" name="Rectangle"/>
          <p:cNvSpPr/>
          <p:nvPr/>
        </p:nvSpPr>
        <p:spPr>
          <a:xfrm>
            <a:off x="1295400" y="304800"/>
            <a:ext cx="6858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45719" rIns="45719" anchor="ctr"/>
          <a:lstStyle/>
          <a:p>
            <a:pPr>
              <a:defRPr sz="2800"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graphicFrame>
        <p:nvGraphicFramePr>
          <p:cNvPr id="137" name="Table"/>
          <p:cNvGraphicFramePr/>
          <p:nvPr>
            <p:extLst>
              <p:ext uri="{D42A27DB-BD31-4B8C-83A1-F6EECF244321}">
                <p14:modId xmlns:p14="http://schemas.microsoft.com/office/powerpoint/2010/main" val="2878016780"/>
              </p:ext>
            </p:extLst>
          </p:nvPr>
        </p:nvGraphicFramePr>
        <p:xfrm>
          <a:off x="582654" y="3311645"/>
          <a:ext cx="7983372" cy="1512473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769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3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25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75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065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800" b="1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S.No</a:t>
                      </a:r>
                      <a:endParaRPr sz="18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800" b="1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Reg.No</a:t>
                      </a:r>
                      <a:endParaRPr sz="18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8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 of the Student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Branch</a:t>
                      </a:r>
                      <a:endParaRPr sz="18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60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IN" sz="1600" dirty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BL.EN.U4AID23019</a:t>
                      </a: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IN" sz="1600" dirty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Joshika Somisetty</a:t>
                      </a: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IN" sz="1600" dirty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AID</a:t>
                      </a: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60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en-US" sz="1600" dirty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BL.EN.U4AID23037</a:t>
                      </a:r>
                      <a:endParaRPr lang="en-US"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IN" sz="1600" dirty="0" err="1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Padarthi</a:t>
                      </a:r>
                      <a:r>
                        <a:rPr lang="en-IN" sz="1600" dirty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IN" sz="1600" dirty="0" err="1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Leela</a:t>
                      </a:r>
                      <a:r>
                        <a:rPr lang="en-IN" sz="1600" dirty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IN" sz="1600" dirty="0" err="1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Sabareesh</a:t>
                      </a:r>
                      <a:endParaRPr lang="en-IN"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IN" sz="1600" dirty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AID</a:t>
                      </a: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421071"/>
                  </a:ext>
                </a:extLst>
              </a:tr>
              <a:tr h="36060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en-US" sz="1600" dirty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BL.EN.U4AID23056</a:t>
                      </a:r>
                      <a:endParaRPr lang="en-US"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IN" sz="1600" dirty="0" err="1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Vobilisetti</a:t>
                      </a:r>
                      <a:r>
                        <a:rPr lang="en-IN" sz="1600" dirty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IN" sz="1600" dirty="0" err="1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Vyvanth</a:t>
                      </a: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IN" sz="1600" dirty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AID</a:t>
                      </a: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946137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830638" y="5779566"/>
            <a:ext cx="92396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30638" y="5591102"/>
            <a:ext cx="5906224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sz="1800" b="1" dirty="0"/>
              <a:t>Project Guide: </a:t>
            </a:r>
            <a:r>
              <a:rPr lang="en-IN" sz="1800" b="1" dirty="0" err="1" smtClean="0"/>
              <a:t>Dr.</a:t>
            </a:r>
            <a:r>
              <a:rPr lang="en-IN" sz="1800" b="1" dirty="0" smtClean="0"/>
              <a:t> </a:t>
            </a:r>
            <a:r>
              <a:rPr lang="en-IN" sz="1800" b="1" dirty="0" err="1"/>
              <a:t>Sreevidya</a:t>
            </a:r>
            <a:r>
              <a:rPr lang="en-IN" sz="1800" b="1" dirty="0"/>
              <a:t> B.</a:t>
            </a:r>
            <a:endParaRPr lang="en-US" sz="1800" b="1" dirty="0"/>
          </a:p>
          <a:p>
            <a:r>
              <a:rPr lang="en-US" sz="1800" b="1" dirty="0"/>
              <a:t>                          </a:t>
            </a:r>
            <a:r>
              <a:rPr lang="en-US" b="1" dirty="0" smtClean="0"/>
              <a:t>Vice </a:t>
            </a:r>
            <a:r>
              <a:rPr lang="en-US" b="1" dirty="0"/>
              <a:t>Chairperson, School of Computing, Bengaluru</a:t>
            </a:r>
            <a:endParaRPr lang="en-IN" sz="1800" b="1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929" y="1375508"/>
            <a:ext cx="7819286" cy="470486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2838605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141" name="Content"/>
          <p:cNvSpPr txBox="1">
            <a:spLocks noGrp="1"/>
          </p:cNvSpPr>
          <p:nvPr>
            <p:ph type="title"/>
          </p:nvPr>
        </p:nvSpPr>
        <p:spPr>
          <a:xfrm>
            <a:off x="609600" y="1371600"/>
            <a:ext cx="7772400" cy="6858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Problem</a:t>
            </a:r>
            <a:r>
              <a:rPr lang="en-IN" dirty="0"/>
              <a:t> Definition</a:t>
            </a:r>
            <a:endParaRPr dirty="0"/>
          </a:p>
        </p:txBody>
      </p:sp>
      <p:sp>
        <p:nvSpPr>
          <p:cNvPr id="142" name="Rectangle"/>
          <p:cNvSpPr/>
          <p:nvPr/>
        </p:nvSpPr>
        <p:spPr>
          <a:xfrm>
            <a:off x="1295400" y="304800"/>
            <a:ext cx="6858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45719" rIns="45719" anchor="ctr"/>
          <a:lstStyle/>
          <a:p>
            <a:pPr>
              <a:defRPr sz="2800"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sp>
        <p:nvSpPr>
          <p:cNvPr id="500" name="Content Body"/>
          <p:cNvSpPr txBox="1"/>
          <p:nvPr/>
        </p:nvSpPr>
        <p:spPr>
          <a:xfrm>
            <a:off x="685800" y="2250000"/>
            <a:ext cx="7772400" cy="3900000"/>
          </a:xfrm>
          <a:prstGeom prst="rect">
            <a:avLst/>
          </a:prstGeom>
        </p:spPr>
        <p:txBody>
          <a:bodyPr wrap="square" lIns="45719" tIns="45719" rIns="45719" bIns="45719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IN" sz="1800" dirty="0">
                <a:latin typeface="Times New Roman"/>
                <a:cs typeface="Times New Roman"/>
              </a:rPr>
              <a:t>Existing automated sleep staging systems classify each 30-second PSG epoch independently, ignoring the sequential nature of sleep — causing poor accuracy on the N1 transition stage.</a:t>
            </a:r>
          </a:p>
          <a:p>
            <a:pPr marL="285750" indent="-285750">
              <a:buFont typeface="Arial"/>
              <a:buChar char="•"/>
            </a:pPr>
            <a:r>
              <a:rPr lang="en-IN" sz="1800" dirty="0">
                <a:latin typeface="Times New Roman"/>
                <a:cs typeface="Times New Roman"/>
              </a:rPr>
              <a:t>Classifiers operate as black boxes, offering no explanation for why a stage was predicted, limiting clinical trust in the output.</a:t>
            </a:r>
          </a:p>
          <a:p>
            <a:pPr marL="285750" indent="-285750">
              <a:buFont typeface="Arial"/>
              <a:buChar char="•"/>
            </a:pPr>
            <a:r>
              <a:rPr lang="en-IN" sz="1800" dirty="0">
                <a:latin typeface="Times New Roman"/>
                <a:cs typeface="Times New Roman"/>
              </a:rPr>
              <a:t>Systems are typically validated on a single dataset only, leaving real-world generalization untested across different recording setups and populations.</a:t>
            </a:r>
          </a:p>
          <a:p>
            <a:pPr marL="285750" indent="-285750">
              <a:buFont typeface="Arial"/>
              <a:buChar char="•"/>
            </a:pPr>
            <a:r>
              <a:rPr lang="en-IN" sz="1800" dirty="0">
                <a:latin typeface="Times New Roman"/>
                <a:cs typeface="Times New Roman"/>
              </a:rPr>
              <a:t>This project proposes a temporally-aware, explainable sleep stage classification framework combining sequence modeling, SHAP-based explainability, LLM-generated clinical reports, and cross-dataset validation (Sleep-EDF → ISRUC-Sleep).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</a:t>
            </a:fld>
            <a:endParaRPr/>
          </a:p>
        </p:txBody>
      </p:sp>
      <p:sp>
        <p:nvSpPr>
          <p:cNvPr id="157" name="Motivation"/>
          <p:cNvSpPr txBox="1">
            <a:spLocks noGrp="1"/>
          </p:cNvSpPr>
          <p:nvPr>
            <p:ph type="title"/>
          </p:nvPr>
        </p:nvSpPr>
        <p:spPr>
          <a:xfrm>
            <a:off x="1143000" y="367146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 dirty="0"/>
              <a:t>Literature Survey</a:t>
            </a:r>
            <a:endParaRPr sz="3200" dirty="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9E0555AD-2513-94DB-0D0F-115A8244F3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271892"/>
              </p:ext>
            </p:extLst>
          </p:nvPr>
        </p:nvGraphicFramePr>
        <p:xfrm>
          <a:off x="547252" y="1537854"/>
          <a:ext cx="8113060" cy="414393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40161">
                  <a:extLst>
                    <a:ext uri="{9D8B030D-6E8A-4147-A177-3AD203B41FA5}">
                      <a16:colId xmlns:a16="http://schemas.microsoft.com/office/drawing/2014/main" val="3359582560"/>
                    </a:ext>
                  </a:extLst>
                </a:gridCol>
                <a:gridCol w="1300697">
                  <a:extLst>
                    <a:ext uri="{9D8B030D-6E8A-4147-A177-3AD203B41FA5}">
                      <a16:colId xmlns:a16="http://schemas.microsoft.com/office/drawing/2014/main" val="246789036"/>
                    </a:ext>
                  </a:extLst>
                </a:gridCol>
                <a:gridCol w="1918447">
                  <a:extLst>
                    <a:ext uri="{9D8B030D-6E8A-4147-A177-3AD203B41FA5}">
                      <a16:colId xmlns:a16="http://schemas.microsoft.com/office/drawing/2014/main" val="208554466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1277987297"/>
                    </a:ext>
                  </a:extLst>
                </a:gridCol>
                <a:gridCol w="2120155">
                  <a:extLst>
                    <a:ext uri="{9D8B030D-6E8A-4147-A177-3AD203B41FA5}">
                      <a16:colId xmlns:a16="http://schemas.microsoft.com/office/drawing/2014/main" val="3529693153"/>
                    </a:ext>
                  </a:extLst>
                </a:gridCol>
              </a:tblGrid>
              <a:tr h="843643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/>
                          <a:cs typeface="Times New Roman"/>
                        </a:rPr>
                        <a:t>S.No.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/>
                          <a:cs typeface="Times New Roman"/>
                        </a:rPr>
                        <a:t>Authors name(s)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/>
                          <a:cs typeface="Times New Roman"/>
                        </a:rPr>
                        <a:t>Full title of the paper with year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/>
                          <a:cs typeface="Times New Roman"/>
                        </a:rPr>
                        <a:t>Inference from the paper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/>
                          <a:cs typeface="Times New Roman"/>
                        </a:rPr>
                        <a:t>Open Problem (For proposed work)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2949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>
                          <a:latin typeface="Times New Roman"/>
                          <a:cs typeface="Times New Roman"/>
                        </a:rPr>
                        <a:t>Satapathy, S.K., et al.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>
                          <a:latin typeface="Times New Roman"/>
                          <a:cs typeface="Times New Roman"/>
                        </a:rPr>
                        <a:t>Machine learning-empowered sleep staging classification using multi-modality signals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>
                          <a:latin typeface="Times New Roman"/>
                          <a:cs typeface="Times New Roman"/>
                        </a:rPr>
                        <a:t>ReliefF feature selection with AdaBoost on EEG, EOG, EMG signals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>
                          <a:latin typeface="Times New Roman"/>
                          <a:cs typeface="Times New Roman"/>
                        </a:rPr>
                        <a:t>Single-dataset evaluation only; no explainability; no temporal modeling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2446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/>
                          <a:cs typeface="Times New Roman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>
                          <a:latin typeface="Times New Roman"/>
                          <a:cs typeface="Times New Roman"/>
                        </a:rPr>
                        <a:t>Chengfan, L., et al. (2022)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>
                          <a:latin typeface="Times New Roman"/>
                          <a:cs typeface="Times New Roman"/>
                        </a:rPr>
                        <a:t>A Deep Learning Method Approach for Sleep Stage Classification with EEG Spectrogram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>
                          <a:latin typeface="Times New Roman"/>
                          <a:cs typeface="Times New Roman"/>
                        </a:rPr>
                        <a:t>Compared CNN, LSTM, CNN+LSTM on EEG spectrograms; best accuracy 87.4%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>
                          <a:latin typeface="Times New Roman"/>
                          <a:cs typeface="Times New Roman"/>
                        </a:rPr>
                        <a:t>Per-epoch classification only; no explainability; no cross-dataset validation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2446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/>
                          <a:cs typeface="Times New Roman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>
                          <a:latin typeface="Times New Roman"/>
                          <a:cs typeface="Times New Roman"/>
                        </a:rPr>
                        <a:t>Jia, Z., et al. (2020)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>
                          <a:latin typeface="Times New Roman"/>
                          <a:cs typeface="Times New Roman"/>
                        </a:rPr>
                        <a:t>GraphSleepNet: Adaptive Spatial-Temporal Graph Convolutional Networks for Sleep Stage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>
                          <a:latin typeface="Times New Roman"/>
                          <a:cs typeface="Times New Roman"/>
                        </a:rPr>
                        <a:t>Graph-based spatial-temporal modeling of multi-channel EEG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>
                          <a:latin typeface="Times New Roman"/>
                          <a:cs typeface="Times New Roman"/>
                        </a:rPr>
                        <a:t>Complex graph model with no explainability; not clinically interpretable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2446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/>
                          <a:cs typeface="Times New Roman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>
                          <a:latin typeface="Times New Roman"/>
                          <a:cs typeface="Times New Roman"/>
                        </a:rPr>
                        <a:t>et al.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>
                          <a:latin typeface="Times New Roman"/>
                          <a:cs typeface="Times New Roman"/>
                        </a:rPr>
                        <a:t>Single-Channel Sleep EEG Classification Method Based on LSTM and Hidden Markov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>
                          <a:latin typeface="Times New Roman"/>
                          <a:cs typeface="Times New Roman"/>
                        </a:rPr>
                        <a:t>LSTM + HMM combination to model temporal dependency across epochs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>
                          <a:latin typeface="Times New Roman"/>
                          <a:cs typeface="Times New Roman"/>
                        </a:rPr>
                        <a:t>Single-channel EEG only; no explainability; no cross-dataset validation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</a:t>
            </a:fld>
            <a:endParaRPr/>
          </a:p>
        </p:txBody>
      </p:sp>
      <p:sp>
        <p:nvSpPr>
          <p:cNvPr id="157" name="Motivation"/>
          <p:cNvSpPr txBox="1">
            <a:spLocks noGrp="1"/>
          </p:cNvSpPr>
          <p:nvPr>
            <p:ph type="title"/>
          </p:nvPr>
        </p:nvSpPr>
        <p:spPr>
          <a:xfrm>
            <a:off x="1143000" y="367146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 dirty="0"/>
              <a:t>Literature Survey</a:t>
            </a:r>
            <a:endParaRPr sz="3200" dirty="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9E0555AD-2513-94DB-0D0F-115A8244F3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5551709"/>
              </p:ext>
            </p:extLst>
          </p:nvPr>
        </p:nvGraphicFramePr>
        <p:xfrm>
          <a:off x="547252" y="1578711"/>
          <a:ext cx="8113060" cy="426792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40161">
                  <a:extLst>
                    <a:ext uri="{9D8B030D-6E8A-4147-A177-3AD203B41FA5}">
                      <a16:colId xmlns:a16="http://schemas.microsoft.com/office/drawing/2014/main" val="3359582560"/>
                    </a:ext>
                  </a:extLst>
                </a:gridCol>
                <a:gridCol w="1300697">
                  <a:extLst>
                    <a:ext uri="{9D8B030D-6E8A-4147-A177-3AD203B41FA5}">
                      <a16:colId xmlns:a16="http://schemas.microsoft.com/office/drawing/2014/main" val="246789036"/>
                    </a:ext>
                  </a:extLst>
                </a:gridCol>
                <a:gridCol w="1918447">
                  <a:extLst>
                    <a:ext uri="{9D8B030D-6E8A-4147-A177-3AD203B41FA5}">
                      <a16:colId xmlns:a16="http://schemas.microsoft.com/office/drawing/2014/main" val="208554466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1277987297"/>
                    </a:ext>
                  </a:extLst>
                </a:gridCol>
                <a:gridCol w="2120155">
                  <a:extLst>
                    <a:ext uri="{9D8B030D-6E8A-4147-A177-3AD203B41FA5}">
                      <a16:colId xmlns:a16="http://schemas.microsoft.com/office/drawing/2014/main" val="3529693153"/>
                    </a:ext>
                  </a:extLst>
                </a:gridCol>
              </a:tblGrid>
              <a:tr h="674169">
                <a:tc>
                  <a:txBody>
                    <a:bodyPr/>
                    <a:lstStyle/>
                    <a:p>
                      <a:pPr algn="ctr"/>
                      <a:r>
                        <a:rPr lang="en-IN" sz="1300" dirty="0">
                          <a:latin typeface="Times New Roman"/>
                          <a:cs typeface="Times New Roman"/>
                        </a:rPr>
                        <a:t>S.No.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dirty="0">
                          <a:latin typeface="Times New Roman"/>
                          <a:cs typeface="Times New Roman"/>
                        </a:rPr>
                        <a:t>Authors name(s)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dirty="0">
                          <a:latin typeface="Times New Roman"/>
                          <a:cs typeface="Times New Roman"/>
                        </a:rPr>
                        <a:t>Full title of the paper with year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dirty="0">
                          <a:latin typeface="Times New Roman"/>
                          <a:cs typeface="Times New Roman"/>
                        </a:rPr>
                        <a:t>Inference from the paper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dirty="0">
                          <a:latin typeface="Times New Roman"/>
                          <a:cs typeface="Times New Roman"/>
                        </a:rPr>
                        <a:t>Open Problem (For proposed work)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5755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/>
                          <a:cs typeface="Times New Roman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>
                          <a:latin typeface="Times New Roman"/>
                          <a:cs typeface="Times New Roman"/>
                        </a:rPr>
                        <a:t>et al.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>
                          <a:latin typeface="Times New Roman"/>
                          <a:cs typeface="Times New Roman"/>
                        </a:rPr>
                        <a:t>ECG-SleepNet: Multimodal Sleep Stage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>
                          <a:latin typeface="Times New Roman"/>
                          <a:cs typeface="Times New Roman"/>
                        </a:rPr>
                        <a:t>Combines ECG and EEG signals in a deep multimodal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>
                          <a:latin typeface="Times New Roman"/>
                          <a:cs typeface="Times New Roman"/>
                        </a:rPr>
                        <a:t>No explainability layer; validated on a single dataset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5755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/>
                          <a:cs typeface="Times New Roman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>
                          <a:latin typeface="Times New Roman"/>
                          <a:cs typeface="Times New Roman"/>
                        </a:rPr>
                        <a:t>et al.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>
                          <a:latin typeface="Times New Roman"/>
                          <a:cs typeface="Times New Roman"/>
                        </a:rPr>
                        <a:t>Sequential feature engineering with XGBoost for sleep stage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>
                          <a:latin typeface="Times New Roman"/>
                          <a:cs typeface="Times New Roman"/>
                        </a:rPr>
                        <a:t>Sequential feature construction improves temporal consistency of tree-based classifier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>
                          <a:latin typeface="Times New Roman"/>
                          <a:cs typeface="Times New Roman"/>
                        </a:rPr>
                        <a:t>No explainability mechanism; no cross-dataset validation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5755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/>
                          <a:cs typeface="Times New Roman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>
                          <a:latin typeface="Times New Roman"/>
                          <a:cs typeface="Times New Roman"/>
                        </a:rPr>
                        <a:t>et al. (2026)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>
                          <a:latin typeface="Times New Roman"/>
                          <a:cs typeface="Times New Roman"/>
                        </a:rPr>
                        <a:t>SleepExplain: Explainable NREM and REM Sleep Stage Classification from EEG 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>
                          <a:latin typeface="Times New Roman"/>
                          <a:cs typeface="Times New Roman"/>
                        </a:rPr>
                        <a:t>Attribution-based explainability for EEG-based sleep stage predictions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>
                          <a:latin typeface="Times New Roman"/>
                          <a:cs typeface="Times New Roman"/>
                        </a:rPr>
                        <a:t>Two-class (NREM/REM) only, not full 5-stage; no LLM-based reporting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97187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/>
                          <a:cs typeface="Times New Roman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>
                          <a:latin typeface="Times New Roman"/>
                          <a:cs typeface="Times New Roman"/>
                        </a:rPr>
                        <a:t>Tallal, U., et al. (2026)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>
                          <a:latin typeface="Times New Roman"/>
                          <a:cs typeface="Times New Roman"/>
                        </a:rPr>
                        <a:t>STDA-Net: Spectrogram-Based Domain Adaptation for Cross-Dataset Sleep Stage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>
                          <a:latin typeface="Times New Roman"/>
                          <a:cs typeface="Times New Roman"/>
                        </a:rPr>
                        <a:t>CNN + BiLSTM + domain-adversarial network for cross-dataset spectrogram-based staging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>
                          <a:latin typeface="Times New Roman"/>
                          <a:cs typeface="Times New Roman"/>
                        </a:rPr>
                        <a:t>No explainability; EEG-only, not multimodal with EOG/EMG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5755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/>
                          <a:cs typeface="Times New Roman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>
                          <a:latin typeface="Times New Roman"/>
                          <a:cs typeface="Times New Roman"/>
                        </a:rPr>
                        <a:t>et al.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>
                          <a:latin typeface="Times New Roman"/>
                          <a:cs typeface="Times New Roman"/>
                        </a:rPr>
                        <a:t>SSNet: Sequential Sleep Staging Network Using EEG, EOG, and EMG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>
                          <a:latin typeface="Times New Roman"/>
                          <a:cs typeface="Times New Roman"/>
                        </a:rPr>
                        <a:t>Sequential deep network jointly using EEG, EOG, and EMG signals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>
                          <a:latin typeface="Times New Roman"/>
                          <a:cs typeface="Times New Roman"/>
                        </a:rPr>
                        <a:t>No explainability mechanism; validated on a single dataset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97187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/>
                          <a:cs typeface="Times New Roman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>
                          <a:latin typeface="Times New Roman"/>
                          <a:cs typeface="Times New Roman"/>
                        </a:rPr>
                        <a:t>Amato, A. (2026)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>
                          <a:latin typeface="Times New Roman"/>
                          <a:cs typeface="Times New Roman"/>
                        </a:rPr>
                        <a:t>A Federated Deep Learning Framework for Sleep-Stage Monitoring Using the ISRUC-Sleep 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>
                          <a:latin typeface="Times New Roman"/>
                          <a:cs typeface="Times New Roman"/>
                        </a:rPr>
                        <a:t>Federated learning (FedAvg/FedProx/FedBN) on ISRUC-Sleep; heterogeneity limits generalization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>
                          <a:latin typeface="Times New Roman"/>
                          <a:cs typeface="Times New Roman"/>
                        </a:rPr>
                        <a:t>No temporal modeling (single-epoch CNN); no explainability; motivates heterogeneity-aware cross-dataset validation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941469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 dirty="0"/>
              <a:t>Justification for the Proposed Problem</a:t>
            </a:r>
            <a:endParaRPr sz="3200" dirty="0"/>
          </a:p>
        </p:txBody>
      </p:sp>
      <p:sp>
        <p:nvSpPr>
          <p:cNvPr id="4" name="Group"/>
          <p:cNvSpPr/>
          <p:nvPr/>
        </p:nvSpPr>
        <p:spPr>
          <a:xfrm>
            <a:off x="685800" y="2249287"/>
            <a:ext cx="7772400" cy="3810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pPr marL="285750" indent="-28575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18883" y="381000"/>
            <a:ext cx="191717" cy="3077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rPr lang="en-US" dirty="0"/>
              <a:t>6</a:t>
            </a:r>
            <a:endParaRPr dirty="0"/>
          </a:p>
        </p:txBody>
      </p:sp>
      <p:sp>
        <p:nvSpPr>
          <p:cNvPr id="500" name="Content Body"/>
          <p:cNvSpPr txBox="1"/>
          <p:nvPr/>
        </p:nvSpPr>
        <p:spPr>
          <a:xfrm>
            <a:off x="685800" y="2250000"/>
            <a:ext cx="7772400" cy="3900000"/>
          </a:xfrm>
          <a:prstGeom prst="rect">
            <a:avLst/>
          </a:prstGeom>
        </p:spPr>
        <p:txBody>
          <a:bodyPr wrap="square" lIns="45719" tIns="45719" rIns="45719" bIns="45719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IN" sz="1800" dirty="0">
                <a:latin typeface="Times New Roman"/>
                <a:cs typeface="Times New Roman"/>
              </a:rPr>
              <a:t>Sleep is a continuous physiological process; treating epochs independently discards clinically meaningful context — modeling temporal dependency can directly improve accuracy on the hardest stage, N1.</a:t>
            </a:r>
          </a:p>
          <a:p>
            <a:pPr marL="285750" indent="-285750">
              <a:buFont typeface="Arial"/>
              <a:buChar char="•"/>
            </a:pPr>
            <a:r>
              <a:rPr lang="en-IN" sz="1800" dirty="0">
                <a:latin typeface="Times New Roman"/>
                <a:cs typeface="Times New Roman"/>
              </a:rPr>
              <a:t>Black-box predictions limit clinical adoption; attaching explainable, evidence-based reasoning to each prediction (and to the generated report) builds clinician trust.</a:t>
            </a:r>
          </a:p>
          <a:p>
            <a:pPr marL="285750" indent="-285750">
              <a:buFont typeface="Arial"/>
              <a:buChar char="•"/>
            </a:pPr>
            <a:r>
              <a:rPr lang="en-IN" sz="1800" dirty="0">
                <a:latin typeface="Times New Roman"/>
                <a:cs typeface="Times New Roman"/>
              </a:rPr>
              <a:t>Single-dataset validation cannot establish real-world robustness; testing on ISRUC-Sleep demonstrates whether the model generalizes beyond its training distribution.</a:t>
            </a:r>
          </a:p>
          <a:p>
            <a:pPr marL="285750" indent="-285750">
              <a:buFont typeface="Arial"/>
              <a:buChar char="•"/>
            </a:pPr>
            <a:r>
              <a:rPr lang="en-IN" sz="1800" dirty="0">
                <a:latin typeface="Times New Roman"/>
                <a:cs typeface="Times New Roman"/>
              </a:rPr>
              <a:t>Together, these enhancements move the system from a proof-of-concept classifier toward a clinically credible decision-support tool.</a:t>
            </a:r>
          </a:p>
        </p:txBody>
      </p:sp>
    </p:spTree>
    <p:extLst>
      <p:ext uri="{BB962C8B-B14F-4D97-AF65-F5344CB8AC3E}">
        <p14:creationId xmlns:p14="http://schemas.microsoft.com/office/powerpoint/2010/main" val="91841883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B2D82-46EE-2093-23DE-59DF4F1A5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>
            <a:extLst>
              <a:ext uri="{FF2B5EF4-FFF2-40B4-BE49-F238E27FC236}">
                <a16:creationId xmlns:a16="http://schemas.microsoft.com/office/drawing/2014/main" id="{146BAA89-B74B-EE35-7828-5DD58A0AFC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 dirty="0"/>
              <a:t>Architecture of the Proposed System</a:t>
            </a:r>
            <a:endParaRPr sz="3200" dirty="0"/>
          </a:p>
        </p:txBody>
      </p:sp>
      <p:sp>
        <p:nvSpPr>
          <p:cNvPr id="4" name="Group">
            <a:extLst>
              <a:ext uri="{FF2B5EF4-FFF2-40B4-BE49-F238E27FC236}">
                <a16:creationId xmlns:a16="http://schemas.microsoft.com/office/drawing/2014/main" id="{3E0AF3FE-C812-196D-3A19-7BFE5E6508CA}"/>
              </a:ext>
            </a:extLst>
          </p:cNvPr>
          <p:cNvSpPr/>
          <p:nvPr/>
        </p:nvSpPr>
        <p:spPr>
          <a:xfrm>
            <a:off x="685800" y="2249287"/>
            <a:ext cx="7772400" cy="3810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pPr marL="285750" indent="-28575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E1FB37A6-CE63-6151-FB8A-912ED19A837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418883" y="381000"/>
            <a:ext cx="191717" cy="30777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rPr lang="en-US" dirty="0"/>
              <a:t>6</a:t>
            </a:r>
            <a:endParaRPr dirty="0"/>
          </a:p>
        </p:txBody>
      </p:sp>
      <p:sp>
        <p:nvSpPr>
          <p:cNvPr id="500" name="Content Body"/>
          <p:cNvSpPr txBox="1"/>
          <p:nvPr/>
        </p:nvSpPr>
        <p:spPr>
          <a:xfrm>
            <a:off x="685800" y="2250000"/>
            <a:ext cx="7772400" cy="3900000"/>
          </a:xfrm>
          <a:prstGeom prst="rect">
            <a:avLst/>
          </a:prstGeom>
        </p:spPr>
        <p:txBody>
          <a:bodyPr wrap="square" lIns="45719" tIns="45719" rIns="45719" bIns="45719">
            <a:normAutofit/>
          </a:bodyPr>
          <a:lstStyle/>
          <a:p>
            <a:pPr marL="228600" indent="0">
              <a:buNone/>
            </a:pPr>
            <a:r>
              <a:rPr lang="en-IN" sz="1600" dirty="0">
                <a:latin typeface="Times New Roman"/>
                <a:cs typeface="Times New Roman"/>
              </a:rPr>
              <a:t>1. Signal Acquisition &amp; Preprocessing — EEG, EOG, EMG channels; wavelet denoising; epoching; per-subject Z-score normalization.</a:t>
            </a:r>
          </a:p>
          <a:p>
            <a:pPr marL="228600" indent="0">
              <a:buNone/>
            </a:pPr>
            <a:r>
              <a:rPr lang="en-IN" sz="1600" dirty="0">
                <a:latin typeface="Times New Roman"/>
                <a:cs typeface="Times New Roman"/>
              </a:rPr>
              <a:t>2. Feature Extraction &amp; Multi-Metric Selection — time/frequency-domain features, Hjorth parameters, permutation entropy, TKEO.</a:t>
            </a:r>
          </a:p>
          <a:p>
            <a:pPr marL="228600" indent="0">
              <a:buNone/>
            </a:pPr>
            <a:r>
              <a:rPr lang="en-IN" sz="1600" dirty="0">
                <a:latin typeface="Times New Roman"/>
                <a:cs typeface="Times New Roman"/>
              </a:rPr>
              <a:t>3. Baseline Epoch-Wise Classification — LightGBM with hybrid SMOTE + RUS sampling.</a:t>
            </a:r>
          </a:p>
          <a:p>
            <a:pPr marL="228600" indent="0">
              <a:buNone/>
            </a:pPr>
            <a:r>
              <a:rPr lang="en-IN" sz="1600" dirty="0">
                <a:latin typeface="Times New Roman"/>
                <a:cs typeface="Times New Roman"/>
              </a:rPr>
              <a:t>4. Temporal Modeling Layer — BiLSTM/Transformer over epoch sequences, or HMM/CRF smoothing of stage probabilities.</a:t>
            </a:r>
          </a:p>
          <a:p>
            <a:pPr marL="228600" indent="0">
              <a:buNone/>
            </a:pPr>
            <a:r>
              <a:rPr lang="en-IN" sz="1600" dirty="0">
                <a:latin typeface="Times New Roman"/>
                <a:cs typeface="Times New Roman"/>
              </a:rPr>
              <a:t>5. Explainability Layer — SHAP-based per-epoch feature attribution.</a:t>
            </a:r>
          </a:p>
          <a:p>
            <a:pPr marL="228600" indent="0">
              <a:buNone/>
            </a:pPr>
            <a:r>
              <a:rPr lang="en-IN" sz="1600" dirty="0">
                <a:latin typeface="Times New Roman"/>
                <a:cs typeface="Times New Roman"/>
              </a:rPr>
              <a:t>6. LLM-Based Report Generation — explanations grounded in feature attributions, not just aggregate metrics.</a:t>
            </a:r>
          </a:p>
          <a:p>
            <a:pPr marL="228600" indent="0">
              <a:buNone/>
            </a:pPr>
            <a:r>
              <a:rPr lang="en-IN" sz="1600" dirty="0">
                <a:latin typeface="Times New Roman"/>
                <a:cs typeface="Times New Roman"/>
              </a:rPr>
              <a:t>7. Cross-Dataset Validation — trained model applied to ISRUC-Sleep to test generalization.</a:t>
            </a:r>
          </a:p>
        </p:txBody>
      </p:sp>
    </p:spTree>
    <p:extLst>
      <p:ext uri="{BB962C8B-B14F-4D97-AF65-F5344CB8AC3E}">
        <p14:creationId xmlns:p14="http://schemas.microsoft.com/office/powerpoint/2010/main" val="187521188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5C526-5B57-0192-D28A-0854D02C0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>
            <a:extLst>
              <a:ext uri="{FF2B5EF4-FFF2-40B4-BE49-F238E27FC236}">
                <a16:creationId xmlns:a16="http://schemas.microsoft.com/office/drawing/2014/main" id="{A952378B-D46F-88F6-E6B5-A939B3714C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 dirty="0"/>
              <a:t>Functionalities of the Proposed System</a:t>
            </a:r>
            <a:endParaRPr sz="3200" dirty="0"/>
          </a:p>
        </p:txBody>
      </p:sp>
      <p:sp>
        <p:nvSpPr>
          <p:cNvPr id="4" name="Group">
            <a:extLst>
              <a:ext uri="{FF2B5EF4-FFF2-40B4-BE49-F238E27FC236}">
                <a16:creationId xmlns:a16="http://schemas.microsoft.com/office/drawing/2014/main" id="{8FC8B824-A607-F0BA-61F1-6F8A38484007}"/>
              </a:ext>
            </a:extLst>
          </p:cNvPr>
          <p:cNvSpPr/>
          <p:nvPr/>
        </p:nvSpPr>
        <p:spPr>
          <a:xfrm>
            <a:off x="685800" y="2249287"/>
            <a:ext cx="7772400" cy="3810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pPr marL="285750" indent="-28575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42D54671-AAB9-65C1-4E77-0685C97E739B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418883" y="381000"/>
            <a:ext cx="191717" cy="3077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rPr lang="en-US" dirty="0"/>
              <a:t>6</a:t>
            </a:r>
            <a:endParaRPr dirty="0"/>
          </a:p>
        </p:txBody>
      </p:sp>
      <p:sp>
        <p:nvSpPr>
          <p:cNvPr id="500" name="Content Body"/>
          <p:cNvSpPr txBox="1"/>
          <p:nvPr/>
        </p:nvSpPr>
        <p:spPr>
          <a:xfrm>
            <a:off x="685800" y="2250000"/>
            <a:ext cx="7772400" cy="3900000"/>
          </a:xfrm>
          <a:prstGeom prst="rect">
            <a:avLst/>
          </a:prstGeom>
        </p:spPr>
        <p:txBody>
          <a:bodyPr wrap="square" lIns="45719" tIns="45719" rIns="45719" bIns="45719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IN" sz="1800" dirty="0">
                <a:latin typeface="Times New Roman"/>
                <a:cs typeface="Times New Roman"/>
              </a:rPr>
              <a:t>Multimodal PSG preprocessing and feature engineering pipeline.</a:t>
            </a:r>
          </a:p>
          <a:p>
            <a:pPr marL="285750" indent="-285750">
              <a:buFont typeface="Arial"/>
              <a:buChar char="•"/>
            </a:pPr>
            <a:r>
              <a:rPr lang="en-IN" sz="1800" dirty="0">
                <a:latin typeface="Times New Roman"/>
                <a:cs typeface="Times New Roman"/>
              </a:rPr>
              <a:t>Temporal sleep stage classification with improved N1-stage accuracy.</a:t>
            </a:r>
          </a:p>
          <a:p>
            <a:pPr marL="285750" indent="-285750">
              <a:buFont typeface="Arial"/>
              <a:buChar char="•"/>
            </a:pPr>
            <a:r>
              <a:rPr lang="en-IN" sz="1800" dirty="0">
                <a:latin typeface="Times New Roman"/>
                <a:cs typeface="Times New Roman"/>
              </a:rPr>
              <a:t>Per-epoch explainability using SHAP feature attribution.</a:t>
            </a:r>
          </a:p>
          <a:p>
            <a:pPr marL="285750" indent="-285750">
              <a:buFont typeface="Arial"/>
              <a:buChar char="•"/>
            </a:pPr>
            <a:r>
              <a:rPr lang="en-IN" sz="1800" dirty="0">
                <a:latin typeface="Times New Roman"/>
                <a:cs typeface="Times New Roman"/>
              </a:rPr>
              <a:t>Explainable LLM-generated sleep reports referencing physiological evidence.</a:t>
            </a:r>
          </a:p>
          <a:p>
            <a:pPr marL="285750" indent="-285750">
              <a:buFont typeface="Arial"/>
              <a:buChar char="•"/>
            </a:pPr>
            <a:r>
              <a:rPr lang="en-IN" sz="1800" dirty="0">
                <a:latin typeface="Times New Roman"/>
                <a:cs typeface="Times New Roman"/>
              </a:rPr>
              <a:t>Comparative evaluation: independent-epoch baseline vs. temporal model.</a:t>
            </a:r>
          </a:p>
          <a:p>
            <a:pPr marL="285750" indent="-285750">
              <a:buFont typeface="Arial"/>
              <a:buChar char="•"/>
            </a:pPr>
            <a:r>
              <a:rPr lang="en-IN" sz="1800" dirty="0">
                <a:latin typeface="Times New Roman"/>
                <a:cs typeface="Times New Roman"/>
              </a:rPr>
              <a:t>Cross-dataset generalization testing on the ISRUC-Sleep dataset.</a:t>
            </a:r>
          </a:p>
        </p:txBody>
      </p:sp>
    </p:spTree>
    <p:extLst>
      <p:ext uri="{BB962C8B-B14F-4D97-AF65-F5344CB8AC3E}">
        <p14:creationId xmlns:p14="http://schemas.microsoft.com/office/powerpoint/2010/main" val="3181827843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3589" y="1333045"/>
            <a:ext cx="7315200" cy="887641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Software/Tools Requirements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319496" y="381000"/>
            <a:ext cx="291104" cy="3077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rPr lang="en-US" dirty="0"/>
              <a:t>13</a:t>
            </a:r>
            <a:endParaRPr dirty="0"/>
          </a:p>
        </p:txBody>
      </p:sp>
      <p:sp>
        <p:nvSpPr>
          <p:cNvPr id="500" name="Content Body"/>
          <p:cNvSpPr txBox="1"/>
          <p:nvPr/>
        </p:nvSpPr>
        <p:spPr>
          <a:xfrm>
            <a:off x="685800" y="2250000"/>
            <a:ext cx="7772400" cy="3900000"/>
          </a:xfrm>
          <a:prstGeom prst="rect">
            <a:avLst/>
          </a:prstGeom>
        </p:spPr>
        <p:txBody>
          <a:bodyPr wrap="square" lIns="45719" tIns="45719" rIns="45719" bIns="45719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IN" sz="1700" dirty="0">
                <a:latin typeface="Times New Roman"/>
                <a:cs typeface="Times New Roman"/>
              </a:rPr>
              <a:t>Programming: Python 3.x</a:t>
            </a:r>
          </a:p>
          <a:p>
            <a:pPr marL="285750" indent="-285750">
              <a:buFont typeface="Arial"/>
              <a:buChar char="•"/>
            </a:pPr>
            <a:r>
              <a:rPr lang="en-IN" sz="1700" dirty="0">
                <a:latin typeface="Times New Roman"/>
                <a:cs typeface="Times New Roman"/>
              </a:rPr>
              <a:t>Signal Processing: MNE-Python, PyEDFlib, PyWavelets</a:t>
            </a:r>
          </a:p>
          <a:p>
            <a:pPr marL="285750" indent="-285750">
              <a:buFont typeface="Arial"/>
              <a:buChar char="•"/>
            </a:pPr>
            <a:r>
              <a:rPr lang="en-IN" sz="1700" dirty="0">
                <a:latin typeface="Times New Roman"/>
                <a:cs typeface="Times New Roman"/>
              </a:rPr>
              <a:t>Machine Learning: scikit-learn, LightGBM, imbalanced-learn (SMOTE)</a:t>
            </a:r>
          </a:p>
          <a:p>
            <a:pPr marL="285750" indent="-285750">
              <a:buFont typeface="Arial"/>
              <a:buChar char="•"/>
            </a:pPr>
            <a:r>
              <a:rPr lang="en-IN" sz="1700" dirty="0">
                <a:latin typeface="Times New Roman"/>
                <a:cs typeface="Times New Roman"/>
              </a:rPr>
              <a:t>Temporal Modeling: PyTorch / TensorFlow-Keras (BiLSTM, Transformer), hmmlearn</a:t>
            </a:r>
          </a:p>
          <a:p>
            <a:pPr marL="285750" indent="-285750">
              <a:buFont typeface="Arial"/>
              <a:buChar char="•"/>
            </a:pPr>
            <a:r>
              <a:rPr lang="en-IN" sz="1700" dirty="0">
                <a:latin typeface="Times New Roman"/>
                <a:cs typeface="Times New Roman"/>
              </a:rPr>
              <a:t>Explainability: SHAP</a:t>
            </a:r>
          </a:p>
          <a:p>
            <a:pPr marL="285750" indent="-285750">
              <a:buFont typeface="Arial"/>
              <a:buChar char="•"/>
            </a:pPr>
            <a:r>
              <a:rPr lang="en-IN" sz="1700" dirty="0">
                <a:latin typeface="Times New Roman"/>
                <a:cs typeface="Times New Roman"/>
              </a:rPr>
              <a:t>LLM Integration: Gemini API / OpenAI API</a:t>
            </a:r>
          </a:p>
          <a:p>
            <a:pPr marL="285750" indent="-285750">
              <a:buFont typeface="Arial"/>
              <a:buChar char="•"/>
            </a:pPr>
            <a:r>
              <a:rPr lang="en-IN" sz="1700" dirty="0">
                <a:latin typeface="Times New Roman"/>
                <a:cs typeface="Times New Roman"/>
              </a:rPr>
              <a:t>Evaluation: BERTScore, judge-LLM prompting</a:t>
            </a:r>
          </a:p>
          <a:p>
            <a:pPr marL="285750" indent="-285750">
              <a:buFont typeface="Arial"/>
              <a:buChar char="•"/>
            </a:pPr>
            <a:r>
              <a:rPr lang="en-IN" sz="1700" dirty="0">
                <a:latin typeface="Times New Roman"/>
                <a:cs typeface="Times New Roman"/>
              </a:rPr>
              <a:t>Environment: Google Colab / Jupyter Notebook, GPU runtime</a:t>
            </a:r>
          </a:p>
          <a:p>
            <a:pPr marL="285750" indent="-285750">
              <a:buFont typeface="Arial"/>
              <a:buChar char="•"/>
            </a:pPr>
            <a:r>
              <a:rPr lang="en-IN" sz="1700" dirty="0">
                <a:latin typeface="Times New Roman"/>
                <a:cs typeface="Times New Roman"/>
              </a:rPr>
              <a:t>Version Control: Git &amp; GitHub</a:t>
            </a:r>
          </a:p>
        </p:txBody>
      </p:sp>
    </p:spTree>
    <p:extLst>
      <p:ext uri="{BB962C8B-B14F-4D97-AF65-F5344CB8AC3E}">
        <p14:creationId xmlns:p14="http://schemas.microsoft.com/office/powerpoint/2010/main" val="2416529429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953589" y="1010911"/>
            <a:ext cx="7315200" cy="88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4572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9144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13716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18288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hangingPunct="1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Set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017" y="1690289"/>
            <a:ext cx="7968343" cy="2650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rmAutofit/>
          </a:bodyPr>
          <a:lstStyle/>
          <a:p>
            <a:r>
              <a:rPr lang="en-IN" sz="2000" b="1" dirty="0">
                <a:latin typeface="Times New Roman"/>
                <a:cs typeface="Times New Roman"/>
              </a:rPr>
              <a:t>Dataset 1: Sleep-EDF Expanded</a:t>
            </a:r>
          </a:p>
          <a:p>
            <a:r>
              <a:rPr lang="en-IN" sz="1600" dirty="0">
                <a:latin typeface="Times New Roman"/>
                <a:cs typeface="Times New Roman"/>
              </a:rPr>
              <a:t>Source: https://physionet.org/content/sleep-edfx/</a:t>
            </a:r>
          </a:p>
          <a:p>
            <a:r>
              <a:rPr lang="en-IN" sz="1600" dirty="0">
                <a:latin typeface="Times New Roman"/>
                <a:cs typeface="Times New Roman"/>
              </a:rPr>
              <a:t>197 whole-night PSG recordings (EEG, EOG, EMG); used to build and train the baseline, temporal, and explainability pipeline.</a:t>
            </a:r>
          </a:p>
          <a:p>
            <a:r>
              <a:rPr lang="en-IN" sz="2000" b="1" dirty="0">
                <a:latin typeface="Times New Roman"/>
                <a:cs typeface="Times New Roman"/>
              </a:rPr>
              <a:t>Dataset 2: ISRUC-Sleep</a:t>
            </a:r>
          </a:p>
          <a:p>
            <a:r>
              <a:rPr lang="en-IN" sz="1600" dirty="0">
                <a:latin typeface="Times New Roman"/>
                <a:cs typeface="Times New Roman"/>
              </a:rPr>
              <a:t>Source: https://sleeptight.isr.uc.pt/</a:t>
            </a:r>
          </a:p>
          <a:p>
            <a:r>
              <a:rPr lang="en-IN" sz="1600" dirty="0" smtClean="0">
                <a:latin typeface="Times New Roman"/>
                <a:cs typeface="Times New Roman"/>
              </a:rPr>
              <a:t>126 PSG </a:t>
            </a:r>
            <a:r>
              <a:rPr lang="en-IN" sz="1600" dirty="0">
                <a:latin typeface="Times New Roman"/>
                <a:cs typeface="Times New Roman"/>
              </a:rPr>
              <a:t>recordings including healthy subjects and subjects with sleep difficulties; used as an independent dataset for cross-dataset generalization validation.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319496" y="381000"/>
            <a:ext cx="291104" cy="3077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rPr lang="en-US" dirty="0"/>
              <a:t>14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806806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996E9-382B-B84C-AAC3-46A960F0B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955885"/>
            <a:ext cx="8229600" cy="740439"/>
          </a:xfrm>
        </p:spPr>
        <p:txBody>
          <a:bodyPr/>
          <a:lstStyle/>
          <a:p>
            <a:r>
              <a:rPr lang="en-US" sz="3200" dirty="0">
                <a:latin typeface="Times New Roman"/>
                <a:cs typeface="Times New Roman"/>
                <a:sym typeface="Times New Roman"/>
              </a:rPr>
              <a:t>Timeline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A60269A-FA76-F14A-9D24-81B24F1694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7430618"/>
              </p:ext>
            </p:extLst>
          </p:nvPr>
        </p:nvGraphicFramePr>
        <p:xfrm>
          <a:off x="143436" y="1532966"/>
          <a:ext cx="8794376" cy="4787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ACD9C-967E-6147-9271-D86550BAFC1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61769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4137" y="1137103"/>
            <a:ext cx="8229600" cy="1005206"/>
          </a:xfrm>
        </p:spPr>
        <p:txBody>
          <a:bodyPr/>
          <a:lstStyle/>
          <a:p>
            <a:r>
              <a:rPr lang="en-US" sz="3200" dirty="0">
                <a:latin typeface="Times New Roman"/>
                <a:cs typeface="Times New Roman"/>
              </a:rPr>
              <a:t>Conclusion</a:t>
            </a:r>
            <a:endParaRPr lang="en-IN" sz="3200" dirty="0">
              <a:latin typeface="Times New Roman"/>
              <a:cs typeface="Times New Roman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68D77C-120F-6344-B7B5-1FCADC3AAC3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12</a:t>
            </a:fld>
            <a:endParaRPr lang="en-IN"/>
          </a:p>
        </p:txBody>
      </p:sp>
      <p:sp>
        <p:nvSpPr>
          <p:cNvPr id="500" name="Content Body"/>
          <p:cNvSpPr txBox="1"/>
          <p:nvPr/>
        </p:nvSpPr>
        <p:spPr>
          <a:xfrm>
            <a:off x="685800" y="2250000"/>
            <a:ext cx="7772400" cy="3900000"/>
          </a:xfrm>
          <a:prstGeom prst="rect">
            <a:avLst/>
          </a:prstGeom>
        </p:spPr>
        <p:txBody>
          <a:bodyPr wrap="square" lIns="45719" tIns="45719" rIns="45719" bIns="45719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IN" sz="1800" dirty="0">
                <a:latin typeface="Times New Roman"/>
                <a:cs typeface="Times New Roman"/>
              </a:rPr>
              <a:t>This project extends automated sleep staging with temporal context modeling, physiological explainability, and cross-dataset validation.</a:t>
            </a:r>
          </a:p>
          <a:p>
            <a:pPr marL="285750" indent="-285750">
              <a:buFont typeface="Arial"/>
              <a:buChar char="•"/>
            </a:pPr>
            <a:r>
              <a:rPr lang="en-IN" sz="1800" dirty="0">
                <a:latin typeface="Times New Roman"/>
                <a:cs typeface="Times New Roman"/>
              </a:rPr>
              <a:t>Expected outcome: improved N1-stage classification, transparent per-epoch explanations reflected in LLM-generated reports, and demonstrated generalization on ISRUC-Sleep.</a:t>
            </a:r>
          </a:p>
          <a:p>
            <a:pPr marL="285750" indent="-285750">
              <a:buFont typeface="Arial"/>
              <a:buChar char="•"/>
            </a:pPr>
            <a:r>
              <a:rPr lang="en-IN" sz="1800" dirty="0">
                <a:latin typeface="Times New Roman"/>
                <a:cs typeface="Times New Roman"/>
              </a:rPr>
              <a:t>The result is a more clinically credible, trustworthy, and robust sleep staging system than existing epoch-independent, black-box approaches.</a:t>
            </a:r>
          </a:p>
        </p:txBody>
      </p:sp>
    </p:spTree>
    <p:extLst>
      <p:ext uri="{BB962C8B-B14F-4D97-AF65-F5344CB8AC3E}">
        <p14:creationId xmlns:p14="http://schemas.microsoft.com/office/powerpoint/2010/main" val="3207744249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13</a:t>
            </a:fld>
            <a:endParaRPr/>
          </a:p>
        </p:txBody>
      </p:sp>
      <p:sp>
        <p:nvSpPr>
          <p:cNvPr id="210" name="References"/>
          <p:cNvSpPr txBox="1">
            <a:spLocks noGrp="1"/>
          </p:cNvSpPr>
          <p:nvPr>
            <p:ph type="title"/>
          </p:nvPr>
        </p:nvSpPr>
        <p:spPr>
          <a:xfrm>
            <a:off x="977537" y="103632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sz="3200" dirty="0">
                <a:latin typeface="Times New Roman"/>
                <a:cs typeface="Times New Roman"/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969E78-3C83-13C3-8700-6481BB45ACF0}"/>
              </a:ext>
            </a:extLst>
          </p:cNvPr>
          <p:cNvSpPr txBox="1"/>
          <p:nvPr/>
        </p:nvSpPr>
        <p:spPr>
          <a:xfrm>
            <a:off x="543683" y="1844358"/>
            <a:ext cx="8184776" cy="4450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rmAutofit/>
          </a:bodyPr>
          <a:lstStyle/>
          <a:p>
            <a:pPr algn="just"/>
            <a:r>
              <a:rPr lang="en-GB" sz="1150" b="0" dirty="0">
                <a:solidFill>
                  <a:srgbClr val="222222"/>
                </a:solidFill>
                <a:latin typeface="Times New Roman"/>
                <a:cs typeface="Times New Roman"/>
              </a:rPr>
              <a:t>[1] N. Sreekumar, J. Velayudhan, and A. Veluppal, “Multimodal Sleep Stage Classification with LLM based Sleep Report,” in Proc. 2nd Int. Conf. Next Generation Electronics (NELeX), 2026.</a:t>
            </a:r>
          </a:p>
          <a:p>
            <a:endParaRPr lang="en-GB" sz="400"/>
          </a:p>
          <a:p>
            <a:pPr algn="just"/>
            <a:r>
              <a:rPr lang="en-GB" sz="1150" b="0" dirty="0">
                <a:solidFill>
                  <a:srgbClr val="222222"/>
                </a:solidFill>
                <a:latin typeface="Times New Roman"/>
                <a:cs typeface="Times New Roman"/>
              </a:rPr>
              <a:t>[2] X. Xu et al., “An Effective and Interpretable Sleep Stage Classification Approach Using Multi-Domain Electroencephalogram and Electrooculogram Features,” Bioengineering, vol. 12, no. 3, p. 286, 2025.</a:t>
            </a:r>
          </a:p>
          <a:p>
            <a:endParaRPr lang="en-GB" sz="400"/>
          </a:p>
          <a:p>
            <a:pPr algn="just"/>
            <a:r>
              <a:rPr lang="en-GB" sz="1150" b="0" dirty="0">
                <a:solidFill>
                  <a:srgbClr val="222222"/>
                </a:solidFill>
                <a:latin typeface="Times New Roman"/>
                <a:cs typeface="Times New Roman"/>
              </a:rPr>
              <a:t>[3] S. K. Satapathy et al., “Machine learning-empowered sleep staging classification using multi-modality signals,” BMC Medical Informatics and Decision Making, vol. 24, no. 1, p. 119, 2024.</a:t>
            </a:r>
          </a:p>
          <a:p>
            <a:endParaRPr lang="en-GB" sz="400"/>
          </a:p>
          <a:p>
            <a:pPr algn="just"/>
            <a:r>
              <a:rPr lang="en-GB" sz="1150" b="0" dirty="0">
                <a:solidFill>
                  <a:srgbClr val="222222"/>
                </a:solidFill>
                <a:latin typeface="Times New Roman"/>
                <a:cs typeface="Times New Roman"/>
              </a:rPr>
              <a:t>[4] B. Kemp et al., “Analysis of a sleep-dependent neuronal feedback loop: the slow-wave microcontinuity of the EEG,” IEEE Trans. Biomed. Eng., vol. 47, no. 9, pp. 1185–1194, 2000.</a:t>
            </a:r>
          </a:p>
          <a:p>
            <a:endParaRPr lang="en-GB" sz="400"/>
          </a:p>
          <a:p>
            <a:pPr algn="just"/>
            <a:r>
              <a:rPr lang="en-GB" sz="1150" b="0" dirty="0">
                <a:solidFill>
                  <a:srgbClr val="222222"/>
                </a:solidFill>
                <a:latin typeface="Times New Roman"/>
                <a:cs typeface="Times New Roman"/>
              </a:rPr>
              <a:t>[5] S. Khalighi, T. Sousa, J. M. Santos, and U. Nunes, “ISRUC-Sleep: A comprehensive public dataset for sleep researchers,” Computer Methods and Programs in Biomedicine, vol. 124, pp. 180–192, 2016.</a:t>
            </a:r>
          </a:p>
          <a:p>
            <a:endParaRPr lang="en-GB" sz="400"/>
          </a:p>
          <a:p>
            <a:pPr algn="just"/>
            <a:r>
              <a:rPr lang="en-GB" sz="1150" b="0" dirty="0">
                <a:solidFill>
                  <a:srgbClr val="222222"/>
                </a:solidFill>
                <a:latin typeface="Times New Roman"/>
                <a:cs typeface="Times New Roman"/>
              </a:rPr>
              <a:t>[6] L. Chengfan, Q. Yueyu, and D. Xuehai, “A Deep Learning Method Approach for Sleep Stage Classification with EEG Spectrogram,” Int. J. Environ. Res. Public Health, vol. 19, no. 10, p. 6322, 2022.</a:t>
            </a:r>
          </a:p>
          <a:p>
            <a:endParaRPr lang="en-GB" sz="400"/>
          </a:p>
          <a:p>
            <a:pPr algn="just"/>
            <a:r>
              <a:rPr lang="en-GB" sz="1150" b="0" dirty="0">
                <a:solidFill>
                  <a:srgbClr val="222222"/>
                </a:solidFill>
                <a:latin typeface="Times New Roman"/>
                <a:cs typeface="Times New Roman"/>
              </a:rPr>
              <a:t>[7] Z. Jia et al., “GraphSleepNet: Adaptive Spatial-Temporal Graph Convolutional Networks for Sleep Stage Classification,” in Proc. 29th Int. Joint Conf. Artificial Intelligence (IJCAI), 2020.</a:t>
            </a:r>
          </a:p>
          <a:p>
            <a:endParaRPr lang="en-GB" sz="400"/>
          </a:p>
          <a:p>
            <a:pPr algn="just"/>
            <a:r>
              <a:rPr lang="en-GB" sz="1150" b="0" dirty="0">
                <a:solidFill>
                  <a:srgbClr val="222222"/>
                </a:solidFill>
                <a:latin typeface="Times New Roman"/>
                <a:cs typeface="Times New Roman"/>
              </a:rPr>
              <a:t>[8] U. Tallal, S. Kshirsagar, and A. Shukla, “STDA-Net: Spectrogram-Based Domain Adaptation for Cross-Dataset Sleep Stage Classification,” arXiv preprint arXiv:2605.06736, 2026.</a:t>
            </a:r>
          </a:p>
          <a:p>
            <a:endParaRPr lang="en-GB" sz="400"/>
          </a:p>
          <a:p>
            <a:pPr algn="just"/>
            <a:r>
              <a:rPr lang="en-GB" sz="1150" b="0" dirty="0">
                <a:solidFill>
                  <a:srgbClr val="222222"/>
                </a:solidFill>
                <a:latin typeface="Times New Roman"/>
                <a:cs typeface="Times New Roman"/>
              </a:rPr>
              <a:t>[9] “SleepExplain: Explainable Non-Rapid Eye Movement and Rapid Eye Movement Sleep Stage Classification from EEG Signal,” arXiv preprint arXiv:2606.07351, 2026.</a:t>
            </a:r>
          </a:p>
          <a:p>
            <a:endParaRPr lang="en-GB" sz="400"/>
          </a:p>
          <a:p>
            <a:pPr algn="just"/>
            <a:r>
              <a:rPr lang="en-GB" sz="1150" b="0" dirty="0">
                <a:solidFill>
                  <a:srgbClr val="222222"/>
                </a:solidFill>
                <a:latin typeface="Times New Roman"/>
                <a:cs typeface="Times New Roman"/>
              </a:rPr>
              <a:t>[10] A. Amato, “A Federated Deep Learning Framework for Sleep-Stage Monitoring Using the ISRUC-Sleep Dataset,” Appl. Sci., vol. 16, no. 2, p. 1073, 2026.</a:t>
            </a:r>
          </a:p>
          <a:p>
            <a:endParaRPr lang="en-GB" sz="400"/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1886" y="2809149"/>
            <a:ext cx="8229600" cy="1508126"/>
          </a:xfrm>
        </p:spPr>
        <p:txBody>
          <a:bodyPr/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21A96B-8B05-BD49-B6F0-8D4DA60AFD4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17277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11_Default Design">
  <a:themeElements>
    <a:clrScheme name="11_Default Desig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11_Default Design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11_Default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1_Default Design">
  <a:themeElements>
    <a:clrScheme name="11_Default Desig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11_Default Design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11_Default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8100</TotalTime>
  <Words>1549</Words>
  <Application>Microsoft Office PowerPoint</Application>
  <PresentationFormat>On-screen Show (4:3)</PresentationFormat>
  <Paragraphs>175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Times New Roman</vt:lpstr>
      <vt:lpstr>11_Default Design</vt:lpstr>
      <vt:lpstr>Temporally-Aware, Explainable Multimodal Sleep Stage Classification with LLM-Generated Reports and Cross-Dataset Validation 23AID498 Project Phase 1 – Approval Presentation  Team ID: 23UG103   Panel No.: 8</vt:lpstr>
      <vt:lpstr>PowerPoint Presentation</vt:lpstr>
      <vt:lpstr>Problem Definition</vt:lpstr>
      <vt:lpstr>Literature Survey</vt:lpstr>
      <vt:lpstr>Literature Survey</vt:lpstr>
      <vt:lpstr>Justification for the Proposed Problem</vt:lpstr>
      <vt:lpstr>Architecture of the Proposed System</vt:lpstr>
      <vt:lpstr>Functionalities of the Proposed System</vt:lpstr>
      <vt:lpstr>Software/Tools Requirements</vt:lpstr>
      <vt:lpstr>PowerPoint Presentation</vt:lpstr>
      <vt:lpstr>Timeline</vt:lpstr>
      <vt:lpstr>Conclusion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Speech Emotion Detection System</dc:title>
  <dc:creator>sundar rathinavel</dc:creator>
  <cp:lastModifiedBy>Joshika Somisetty</cp:lastModifiedBy>
  <cp:revision>175</cp:revision>
  <dcterms:modified xsi:type="dcterms:W3CDTF">2026-08-26T07:10:07Z</dcterms:modified>
</cp:coreProperties>
</file>